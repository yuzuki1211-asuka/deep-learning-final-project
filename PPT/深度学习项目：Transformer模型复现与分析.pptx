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2.svg" ContentType="image/svg+xml"/>
  <Override PartName="/ppt/media/image24.svg" ContentType="image/svg+xml"/>
  <Override PartName="/ppt/media/image28.svg" ContentType="image/svg+xml"/>
  <Override PartName="/ppt/media/image31.svg" ContentType="image/svg+xml"/>
  <Override PartName="/ppt/media/image33.svg" ContentType="image/svg+xml"/>
  <Override PartName="/ppt/media/image35.svg" ContentType="image/svg+xml"/>
  <Override PartName="/ppt/media/image37.svg" ContentType="image/svg+xml"/>
  <Override PartName="/ppt/media/image4.svg" ContentType="image/svg+xml"/>
  <Override PartName="/ppt/media/image40.svg" ContentType="image/svg+xml"/>
  <Override PartName="/ppt/media/image43.svg" ContentType="image/svg+xml"/>
  <Override PartName="/ppt/media/image45.svg" ContentType="image/svg+xml"/>
  <Override PartName="/ppt/media/image47.svg" ContentType="image/svg+xml"/>
  <Override PartName="/ppt/media/image49.svg" ContentType="image/svg+xml"/>
  <Override PartName="/ppt/media/image51.svg" ContentType="image/svg+xml"/>
  <Override PartName="/ppt/media/image54.svg" ContentType="image/svg+xml"/>
  <Override PartName="/ppt/media/image56.svg" ContentType="image/svg+xml"/>
  <Override PartName="/ppt/media/image59.svg" ContentType="image/svg+xml"/>
  <Override PartName="/ppt/media/image6.svg" ContentType="image/svg+xml"/>
  <Override PartName="/ppt/media/image61.svg" ContentType="image/svg+xml"/>
  <Override PartName="/ppt/media/image63.svg" ContentType="image/svg+xml"/>
  <Override PartName="/ppt/media/image65.svg" ContentType="image/svg+xml"/>
  <Override PartName="/ppt/media/image67.svg" ContentType="image/svg+xml"/>
  <Override PartName="/ppt/media/image69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4" r:id="rId2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584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584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们将为大家介绍我们的深度学习期末项目——Transformer模型的复现与分析。本次汇报将深入探讨Transformer模型的核心原理、实现细节以及我们的实验结果。希望通过这次分享，能让大家对这一革命性的模型有更深刻的理解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汇报将分为九个部分。首先，我们会介绍项目的基本信息。接着，回顾Transformer诞生的研究背景。然后，我们将深入讲解Transformer的核心思想、整体架构以及关键的Attention机制。之后，会分析Encoder和Decoder模块，并解释位置编码的作用。最后，我们将展示我们的实验结果，并对整个项目进行总结与展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首先介绍我们的项目。这是一个深度学习课程的期末项目，核心是复现和分析经典的Transformer模型。我们的工作完全基于2017年的论文《Attention Is All You Need》。项目的目标是实现从理论理解到代码实践，再到实验分析的全过程。最终，我们成功复现了模型，并完成了一系列对比实验，取得了预期的成果。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个项目由我们三位同学共同完成，分工明确，各司其职。我们的工作参考了一个优秀的开源PyTorch实现，并在此基础上进行了大量的改造和优化，使其更适合作为课程项目。我们主要使用的技术栈是PyTorch框架，并通过GitHub进行版本管理和协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我们回顾一下Transformer诞生的背景。在它之前，RNN，特别是LSTM和GRU，是处理序列数据的主流模型。然而，RNN固有的顺序计算特性，使其难以并行化，训练效率低下。同时，对于非常长的序列，它在捕捉长距离依赖关系方面也存在天然的瓶颈。这些问题催生了新模型的出现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Transformer的出现正是为了解决RNN的痛点。它的革命性在于完全抛弃了循环结构，转而完全依赖注意力机制。这带来了两大核心优势：首先是高度的并行化能力，使得训练效率大幅提升；其次是强大的全局依赖建模能力，能够更好地捕捉长距离依赖。可以说，Transformer从根本上改变了序列建模的范式，成为了AI大模型时代的绝对基石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Transformer的核心思想非常直观，就是“Attention is All You Need”。它彻底抛弃了传统的循环结构，转而使用自注意力机制。自注意力机制让模型在处理每个词时，都能动态地关注到句子中所有其他相关的词，并根据它们的重要性来更新当前词的表示。就像我们理解一句话时，会根据上下文来判断代词的指代对象一样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Transformer的整体架构图。它遵循经典的Encoder-Decoder结构。左侧是编码器，负责处理输入序列；右侧是解码器，负责生成输出序列。编码器和解码器都由6个相同的层堆叠而成。每个层内部都包含了注意力机制和前馈网络，并且都采用了残差连接和层归一化来稳定训练。接下来我们将逐一解析其中的关键组件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Transformer中最核心的就是这个Scaled Dot-Product Attention。它的计算过程可以分为五步。首先，我们有三个向量：Query、Key和Value。然后，通过计算Query和所有Key的点积来得到相似度分数。接着，用一个缩放因子进行缩放，再通过softmax函数转换成注意力权重。最后，将这些权重与Value向量相乘求和，就得到了融合了上下文信息的输出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让模型能捕捉更丰富的信息，Transformer引入了多头注意力机制。它的思想是，我们不做一次注意力计算，而是做多次。具体来说，就是将Q、K、V向量进行多次线性投影，然后并行地计算h次注意力，最后将这h个结果拼接起来，再通过一个线性层得到最终输出。这样做的好处是，每个头可以学习不同的依赖模式，从而增强模型的表达能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我们来看编码器的内部结构。每一层编码器主要由两部分组成：多头自注意力层和前馈网络层。在每个子层之后，都应用了残差连接和层归一化，这对于训练深度网络至关重要。自注意力层负责捕捉序列内部的依赖关系，而前馈网络则对每个位置的信息进行独立的非线性变换，增加模型的表达能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解码器的结构比编码器稍复杂，它包含三个子层。第一个是掩码多头自注意力，这里的“掩码”是为了确保在生成序列时，模型只能看到当前位置及之前的内容，而不会提前看到未来的信息。第二个是编码器-解码器注意力层，这一层让解码器能够“关注”到输入序列中的相关信息。最后同样是前馈网络层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一个关键问题是，Transformer没有循环结构，它如何知道词的顺序呢？答案是位置编码。论文中使用了一种基于正弦和余弦函数的固定位置编码方式。它为每个位置生成一个独特的向量，并将其与词向量相加。这样，模型不仅知道每个词的内容，还知道它在句子中的位置。这种设计巧妙地让模型同时学习到了绝对位置和相对位置信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为了验证模型的效果，我们在Multi30k英德翻译数据集上进行了实验。这个数据集包含了29,000个训练样本，以及各1,000个验证和测试样本，是一个常用的标准评测基准。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为了探究模型参数规模对翻译性能的影响，我们设计了三组对比实验：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1. Small模型：最小配置，维度128，2层，4个头。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2. Baseline模型：我们的基准模型，维度256，3层，8个头，这是我们实验的主要对照组。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3. Deeper模型：增加了网络深度，维度不变，层数增加到4层，以测试深度带来的增益。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最后，右侧展示的是Transformer架构的核心论文作者 Ashish Vaswani，他的开创性工作奠定了现代NLP的基础。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的核心实验结果。从表格中可以看到，基线模型在参数量、验证损失和困惑度之间取得了最佳的平衡，表现最好。而更深的模型虽然参数量更大，但性能反而有所下降，这说明模型性能并非简单地随参数量增加而提升，存在一个最优的规模。同时，我们也记录了单轮训练时间，可以看到模型规模与训练时间正相关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基线模型的损失曲线图，可以看到训练损失和验证损失都在稳步下降，表明模型有效学习了任务。我们也展示了一个翻译样例，模型生成的句子语法基本正确，但在词汇准确性上还有提升空间，这主要是因为我们的训练资源有限。总的来说，Transformer论文的核心贡献在于提出了全新的架构，实现了高效并行，并刷新了当时的SOTA，为后续的BERT、GPT等模型奠定了基础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对我们的项目进行总结。我们成功复现了Transformer模型，并通过实践深入理解了其内部的核心模块。这个过程让我们获得了宝贵的模型训练经验。最重要的是，我们通过实验直观地认识到，模型性能和规模之间存在一个权衡关系，并非越大越好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我的汇报到此结束，感谢大家的聆听。现在是问答环节，欢迎大家提问。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svg"/><Relationship Id="rId8" Type="http://schemas.openxmlformats.org/officeDocument/2006/relationships/image" Target="../media/image9.png"/><Relationship Id="rId7" Type="http://schemas.openxmlformats.org/officeDocument/2006/relationships/image" Target="../media/image8.svg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3" Type="http://schemas.openxmlformats.org/officeDocument/2006/relationships/notesSlide" Target="../notesSlides/notesSlide3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12.svg"/><Relationship Id="rId10" Type="http://schemas.openxmlformats.org/officeDocument/2006/relationships/image" Target="../media/image11.png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0.jpeg"/><Relationship Id="rId8" Type="http://schemas.openxmlformats.org/officeDocument/2006/relationships/image" Target="../media/image19.jpeg"/><Relationship Id="rId7" Type="http://schemas.openxmlformats.org/officeDocument/2006/relationships/image" Target="../media/image18.svg"/><Relationship Id="rId6" Type="http://schemas.openxmlformats.org/officeDocument/2006/relationships/image" Target="../media/image17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1" Type="http://schemas.openxmlformats.org/officeDocument/2006/relationships/notesSlide" Target="../notesSlides/notesSlide4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25.jpeg"/><Relationship Id="rId5" Type="http://schemas.openxmlformats.org/officeDocument/2006/relationships/image" Target="../media/image24.svg"/><Relationship Id="rId4" Type="http://schemas.openxmlformats.org/officeDocument/2006/relationships/image" Target="../media/image23.png"/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6.jpeg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34.png"/><Relationship Id="rId8" Type="http://schemas.openxmlformats.org/officeDocument/2006/relationships/image" Target="../media/image33.svg"/><Relationship Id="rId7" Type="http://schemas.openxmlformats.org/officeDocument/2006/relationships/image" Target="../media/image32.png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29.jpeg"/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4" Type="http://schemas.openxmlformats.org/officeDocument/2006/relationships/notesSlide" Target="../notesSlides/notesSlide8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37.svg"/><Relationship Id="rId11" Type="http://schemas.openxmlformats.org/officeDocument/2006/relationships/image" Target="../media/image36.png"/><Relationship Id="rId10" Type="http://schemas.openxmlformats.org/officeDocument/2006/relationships/image" Target="../media/image35.svg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38.jpeg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41.jpeg"/><Relationship Id="rId7" Type="http://schemas.openxmlformats.org/officeDocument/2006/relationships/image" Target="../media/image40.svg"/><Relationship Id="rId6" Type="http://schemas.openxmlformats.org/officeDocument/2006/relationships/image" Target="../media/image39.png"/><Relationship Id="rId5" Type="http://schemas.openxmlformats.org/officeDocument/2006/relationships/image" Target="../media/image28.svg"/><Relationship Id="rId4" Type="http://schemas.openxmlformats.org/officeDocument/2006/relationships/image" Target="../media/image27.png"/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0" Type="http://schemas.openxmlformats.org/officeDocument/2006/relationships/notesSlide" Target="../notesSlides/notesSlide10.xml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1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45.svg"/><Relationship Id="rId6" Type="http://schemas.openxmlformats.org/officeDocument/2006/relationships/image" Target="../media/image44.png"/><Relationship Id="rId5" Type="http://schemas.openxmlformats.org/officeDocument/2006/relationships/image" Target="../media/image43.svg"/><Relationship Id="rId4" Type="http://schemas.openxmlformats.org/officeDocument/2006/relationships/image" Target="../media/image42.png"/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tags" Target="../tags/tag3.xml"/><Relationship Id="rId5" Type="http://schemas.openxmlformats.org/officeDocument/2006/relationships/image" Target="../media/image47.svg"/><Relationship Id="rId4" Type="http://schemas.openxmlformats.org/officeDocument/2006/relationships/image" Target="../media/image46.png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5" Type="http://schemas.openxmlformats.org/officeDocument/2006/relationships/notesSlide" Target="../notesSlides/notesSlide12.xml"/><Relationship Id="rId14" Type="http://schemas.openxmlformats.org/officeDocument/2006/relationships/slideLayout" Target="../slideLayouts/slideLayout12.xml"/><Relationship Id="rId13" Type="http://schemas.openxmlformats.org/officeDocument/2006/relationships/tags" Target="../tags/tag8.xml"/><Relationship Id="rId12" Type="http://schemas.openxmlformats.org/officeDocument/2006/relationships/tags" Target="../tags/tag7.xml"/><Relationship Id="rId11" Type="http://schemas.openxmlformats.org/officeDocument/2006/relationships/image" Target="../media/image22.svg"/><Relationship Id="rId10" Type="http://schemas.openxmlformats.org/officeDocument/2006/relationships/image" Target="../media/image21.png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3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52.jpeg"/><Relationship Id="rId5" Type="http://schemas.openxmlformats.org/officeDocument/2006/relationships/image" Target="../media/image51.svg"/><Relationship Id="rId4" Type="http://schemas.openxmlformats.org/officeDocument/2006/relationships/image" Target="../media/image50.png"/><Relationship Id="rId3" Type="http://schemas.openxmlformats.org/officeDocument/2006/relationships/image" Target="../media/image49.svg"/><Relationship Id="rId2" Type="http://schemas.openxmlformats.org/officeDocument/2006/relationships/image" Target="../media/image48.png"/><Relationship Id="rId1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4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57.jpeg"/><Relationship Id="rId5" Type="http://schemas.openxmlformats.org/officeDocument/2006/relationships/image" Target="../media/image56.svg"/><Relationship Id="rId4" Type="http://schemas.openxmlformats.org/officeDocument/2006/relationships/image" Target="../media/image55.png"/><Relationship Id="rId3" Type="http://schemas.openxmlformats.org/officeDocument/2006/relationships/image" Target="../media/image54.svg"/><Relationship Id="rId2" Type="http://schemas.openxmlformats.org/officeDocument/2006/relationships/image" Target="../media/image53.png"/><Relationship Id="rId1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5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59.svg"/><Relationship Id="rId4" Type="http://schemas.openxmlformats.org/officeDocument/2006/relationships/image" Target="../media/image58.png"/><Relationship Id="rId3" Type="http://schemas.openxmlformats.org/officeDocument/2006/relationships/image" Target="../media/image40.svg"/><Relationship Id="rId2" Type="http://schemas.openxmlformats.org/officeDocument/2006/relationships/image" Target="../media/image39.png"/><Relationship Id="rId1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6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63.svg"/><Relationship Id="rId6" Type="http://schemas.openxmlformats.org/officeDocument/2006/relationships/image" Target="../media/image62.png"/><Relationship Id="rId5" Type="http://schemas.openxmlformats.org/officeDocument/2006/relationships/image" Target="../media/image61.svg"/><Relationship Id="rId4" Type="http://schemas.openxmlformats.org/officeDocument/2006/relationships/image" Target="../media/image60.png"/><Relationship Id="rId3" Type="http://schemas.openxmlformats.org/officeDocument/2006/relationships/image" Target="../media/image59.svg"/><Relationship Id="rId2" Type="http://schemas.openxmlformats.org/officeDocument/2006/relationships/image" Target="../media/image58.png"/><Relationship Id="rId1" Type="http://schemas.openxmlformats.org/officeDocument/2006/relationships/image" Target="../media/image2.jpe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69.svg"/><Relationship Id="rId8" Type="http://schemas.openxmlformats.org/officeDocument/2006/relationships/image" Target="../media/image68.png"/><Relationship Id="rId7" Type="http://schemas.openxmlformats.org/officeDocument/2006/relationships/image" Target="../media/image67.svg"/><Relationship Id="rId6" Type="http://schemas.openxmlformats.org/officeDocument/2006/relationships/image" Target="../media/image66.png"/><Relationship Id="rId5" Type="http://schemas.openxmlformats.org/officeDocument/2006/relationships/image" Target="../media/image22.svg"/><Relationship Id="rId4" Type="http://schemas.openxmlformats.org/officeDocument/2006/relationships/image" Target="../media/image21.png"/><Relationship Id="rId3" Type="http://schemas.openxmlformats.org/officeDocument/2006/relationships/image" Target="../media/image65.svg"/><Relationship Id="rId2" Type="http://schemas.openxmlformats.org/officeDocument/2006/relationships/image" Target="../media/image64.png"/><Relationship Id="rId11" Type="http://schemas.openxmlformats.org/officeDocument/2006/relationships/notesSlide" Target="../notesSlides/notesSlide17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7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1524000"/>
            <a:ext cx="1219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5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深度学习项目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461000" y="2921000"/>
            <a:ext cx="1270000" cy="76200"/>
          </a:xfrm>
          <a:prstGeom prst="roundRect">
            <a:avLst>
              <a:gd name="adj" fmla="val 0"/>
            </a:avLst>
          </a:prstGeom>
          <a:solidFill>
            <a:srgbClr val="00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0" y="3556000"/>
            <a:ext cx="1219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Transformer模型复现与分析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5080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0" i="0" u="none" strike="noStrike">
                <a:solidFill>
                  <a:srgbClr val="FFFFFF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汇报人：杨子木 · 申婧 · 康馨文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0" y="5842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7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2026年5月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目录</a:t>
            </a:r>
            <a:r>
              <a:rPr lang="en-US" sz="2400" b="1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CONTENTS</a:t>
            </a:r>
            <a:endParaRPr lang="en-US" sz="2400" b="1">
              <a:solidFill>
                <a:srgbClr val="FFFFFF">
                  <a:alpha val="6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302000" cy="1524000"/>
          </a:xfrm>
          <a:prstGeom prst="roundRect">
            <a:avLst>
              <a:gd name="adj" fmla="val 6666"/>
            </a:avLst>
          </a:prstGeom>
          <a:solidFill>
            <a:srgbClr val="1E293B">
              <a:alpha val="90000"/>
            </a:srgbClr>
          </a:solidFill>
          <a:ln w="12700" cap="flat" cmpd="sng">
            <a:solidFill>
              <a:srgbClr val="00FF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952500" y="18415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778000" y="1879600"/>
            <a:ext cx="2095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论文基本信息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项目概述与团队贡献</a:t>
            </a:r>
            <a:endParaRPr lang="en-US" sz="13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4445000" y="1651000"/>
            <a:ext cx="3302000" cy="1524000"/>
          </a:xfrm>
          <a:prstGeom prst="roundRect">
            <a:avLst>
              <a:gd name="adj" fmla="val 6666"/>
            </a:avLst>
          </a:prstGeom>
          <a:solidFill>
            <a:srgbClr val="1E293B">
              <a:alpha val="90000"/>
            </a:srgbClr>
          </a:solidFill>
          <a:ln w="12700" cap="flat" cmpd="sng">
            <a:solidFill>
              <a:srgbClr val="00FF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4635500" y="18415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461000" y="1879600"/>
            <a:ext cx="2095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研究背景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序列建模的演进与突破</a:t>
            </a:r>
            <a:endParaRPr lang="en-US" sz="13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8128000" y="1651000"/>
            <a:ext cx="3302000" cy="1524000"/>
          </a:xfrm>
          <a:prstGeom prst="roundRect">
            <a:avLst>
              <a:gd name="adj" fmla="val 6666"/>
            </a:avLst>
          </a:prstGeom>
          <a:solidFill>
            <a:srgbClr val="1E293B">
              <a:alpha val="90000"/>
            </a:srgbClr>
          </a:solidFill>
          <a:ln w="12700" cap="flat" cmpd="sng">
            <a:solidFill>
              <a:srgbClr val="00FF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8318500" y="18415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9144000" y="1879600"/>
            <a:ext cx="2095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核心思想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Attention is All You Need</a:t>
            </a:r>
            <a:endParaRPr lang="en-US" sz="13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62000" y="3429000"/>
            <a:ext cx="3302000" cy="1524000"/>
          </a:xfrm>
          <a:prstGeom prst="roundRect">
            <a:avLst>
              <a:gd name="adj" fmla="val 6666"/>
            </a:avLst>
          </a:prstGeom>
          <a:solidFill>
            <a:srgbClr val="1E293B">
              <a:alpha val="90000"/>
            </a:srgbClr>
          </a:solidFill>
          <a:ln w="12700" cap="flat" cmpd="sng">
            <a:solidFill>
              <a:srgbClr val="00FF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952500" y="36195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778000" y="3657600"/>
            <a:ext cx="2095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整体架构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Transformer模型详解</a:t>
            </a:r>
            <a:endParaRPr lang="en-US" sz="13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4445000" y="3429000"/>
            <a:ext cx="3302000" cy="1524000"/>
          </a:xfrm>
          <a:prstGeom prst="roundRect">
            <a:avLst>
              <a:gd name="adj" fmla="val 6666"/>
            </a:avLst>
          </a:prstGeom>
          <a:solidFill>
            <a:srgbClr val="1E293B">
              <a:alpha val="90000"/>
            </a:srgbClr>
          </a:solidFill>
          <a:ln w="12700" cap="flat" cmpd="sng">
            <a:solidFill>
              <a:srgbClr val="00FF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4635500" y="36195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5461000" y="3657600"/>
            <a:ext cx="2095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关键机制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Attention与Multi-Head Attention</a:t>
            </a:r>
            <a:endParaRPr lang="en-US" sz="13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8128000" y="3429000"/>
            <a:ext cx="3302000" cy="1524000"/>
          </a:xfrm>
          <a:prstGeom prst="roundRect">
            <a:avLst>
              <a:gd name="adj" fmla="val 6666"/>
            </a:avLst>
          </a:prstGeom>
          <a:solidFill>
            <a:srgbClr val="1E293B">
              <a:alpha val="90000"/>
            </a:srgbClr>
          </a:solidFill>
          <a:ln w="12700" cap="flat" cmpd="sng">
            <a:solidFill>
              <a:srgbClr val="00FF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8318500" y="36195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9144000" y="3657600"/>
            <a:ext cx="2095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模块分析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Encoder与Decoder深度剖析</a:t>
            </a:r>
            <a:endParaRPr lang="en-US" sz="13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762000" y="5080000"/>
            <a:ext cx="3302000" cy="1397000"/>
          </a:xfrm>
          <a:prstGeom prst="roundRect">
            <a:avLst>
              <a:gd name="adj" fmla="val 7272"/>
            </a:avLst>
          </a:prstGeom>
          <a:solidFill>
            <a:srgbClr val="1E293B">
              <a:alpha val="90000"/>
            </a:srgbClr>
          </a:solidFill>
          <a:ln w="12700" cap="flat" cmpd="sng">
            <a:solidFill>
              <a:srgbClr val="00FF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952500" y="52705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07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1778000" y="5308600"/>
            <a:ext cx="2095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位置编码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赋予模型序列顺序感知</a:t>
            </a:r>
            <a:endParaRPr lang="en-US" sz="13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4445000" y="5080000"/>
            <a:ext cx="3302000" cy="1397000"/>
          </a:xfrm>
          <a:prstGeom prst="roundRect">
            <a:avLst>
              <a:gd name="adj" fmla="val 7272"/>
            </a:avLst>
          </a:prstGeom>
          <a:solidFill>
            <a:srgbClr val="1E293B">
              <a:alpha val="90000"/>
            </a:srgbClr>
          </a:solidFill>
          <a:ln w="12700" cap="flat" cmpd="sng">
            <a:solidFill>
              <a:srgbClr val="00FF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4635500" y="52705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08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5461000" y="5308600"/>
            <a:ext cx="2095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实验结果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模型性能对比与分析</a:t>
            </a:r>
            <a:endParaRPr lang="en-US" sz="13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8" name="AutoShape 28"/>
          <p:cNvSpPr/>
          <p:nvPr/>
        </p:nvSpPr>
        <p:spPr>
          <a:xfrm>
            <a:off x="8128000" y="5080000"/>
            <a:ext cx="3302000" cy="1397000"/>
          </a:xfrm>
          <a:prstGeom prst="roundRect">
            <a:avLst>
              <a:gd name="adj" fmla="val 7272"/>
            </a:avLst>
          </a:prstGeom>
          <a:solidFill>
            <a:srgbClr val="1E293B">
              <a:alpha val="90000"/>
            </a:srgbClr>
          </a:solidFill>
          <a:ln w="12700" cap="flat" cmpd="sng">
            <a:solidFill>
              <a:srgbClr val="00FF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8318500" y="52705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09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9144000" y="5308600"/>
            <a:ext cx="2095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总结展望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项目总结与未来工作</a:t>
            </a:r>
            <a:endParaRPr lang="en-US" sz="13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3424555" y="869315"/>
            <a:ext cx="670179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600" b="1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https://github.com/Yuzuki1211-Asuka/Deep-Learning-Final-Project</a:t>
            </a:r>
            <a:endParaRPr lang="en-US" sz="1600" b="1">
              <a:solidFill>
                <a:srgbClr val="FFFFFF">
                  <a:alpha val="6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论文基本信息：项目概述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3302000" cy="1524000"/>
          </a:xfrm>
          <a:prstGeom prst="roundRect">
            <a:avLst>
              <a:gd name="adj" fmla="val 10000"/>
            </a:avLst>
          </a:prstGeom>
          <a:solidFill>
            <a:srgbClr val="1E293B">
              <a:alpha val="95000"/>
            </a:srgbClr>
          </a:solidFill>
          <a:ln w="12700" cap="flat" cmpd="sng">
            <a:solidFill>
              <a:srgbClr val="00FFFF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17145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397000" y="1689100"/>
            <a:ext cx="2476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项目名称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F1F5F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深度学习项目：</a:t>
            </a:r>
            <a:endParaRPr lang="en-US" sz="1300" b="0" i="0" u="none" strike="noStrike">
              <a:solidFill>
                <a:srgbClr val="F1F5F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F1F5F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Transformer模型复现与分析</a:t>
            </a:r>
            <a:endParaRPr lang="en-US" sz="1300" b="0" i="0" u="none" strike="noStrike">
              <a:solidFill>
                <a:srgbClr val="F1F5F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4445000" y="1524000"/>
            <a:ext cx="3302000" cy="1524000"/>
          </a:xfrm>
          <a:prstGeom prst="roundRect">
            <a:avLst>
              <a:gd name="adj" fmla="val 10000"/>
            </a:avLst>
          </a:prstGeom>
          <a:solidFill>
            <a:srgbClr val="1E293B">
              <a:alpha val="95000"/>
            </a:srgbClr>
          </a:solidFill>
          <a:ln w="12700" cap="flat" cmpd="sng">
            <a:solidFill>
              <a:srgbClr val="00FFFF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35500" y="17145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5080000" y="1689100"/>
            <a:ext cx="2476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核心主题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F1F5F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深入理解、代码复现并通过对比实验，全方位分析经典的Transformer模型架构与性能表现。</a:t>
            </a:r>
            <a:endParaRPr lang="en-US" sz="1300" b="0" i="0" u="none" strike="noStrike">
              <a:solidFill>
                <a:srgbClr val="F1F5F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8128000" y="1524000"/>
            <a:ext cx="3302000" cy="1524000"/>
          </a:xfrm>
          <a:prstGeom prst="roundRect">
            <a:avLst>
              <a:gd name="adj" fmla="val 10000"/>
            </a:avLst>
          </a:prstGeom>
          <a:solidFill>
            <a:srgbClr val="1E293B">
              <a:alpha val="95000"/>
            </a:srgbClr>
          </a:solidFill>
          <a:ln w="12700" cap="flat" cmpd="sng">
            <a:solidFill>
              <a:srgbClr val="00FFFF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18500" y="17145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8763000" y="1689100"/>
            <a:ext cx="2476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核心论文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F1F5F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《Attention Is All You Need》</a:t>
            </a:r>
            <a:r>
              <a:rPr lang="en-US" sz="12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(Vaswani et al., 2017)</a:t>
            </a:r>
            <a:endParaRPr lang="en-US" sz="120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62000" y="3429000"/>
            <a:ext cx="5207000" cy="2667000"/>
          </a:xfrm>
          <a:prstGeom prst="roundRect">
            <a:avLst>
              <a:gd name="adj" fmla="val 5714"/>
            </a:avLst>
          </a:prstGeom>
          <a:solidFill>
            <a:srgbClr val="1E293B">
              <a:alpha val="95000"/>
            </a:srgbClr>
          </a:solidFill>
          <a:ln w="12700" cap="flat" cmpd="sng">
            <a:solidFill>
              <a:srgbClr val="00FFFF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6000" y="3683000"/>
            <a:ext cx="355600" cy="355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524000" y="3657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项目目标 GOALS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016000" y="4318000"/>
            <a:ext cx="4699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 理解：</a:t>
            </a:r>
            <a:r>
              <a:rPr lang="en-US" sz="13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精读论文，掌握Self-Attention与Transformer的核心模型结构与原理。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 复现：</a:t>
            </a:r>
            <a:r>
              <a:rPr lang="en-US" sz="13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使用PyTorch框架，从零实现Transformer的Encoder与Decoder核心模块。</a:t>
            </a:r>
            <a:endParaRPr lang="en-US" sz="1300" b="0" i="0" u="none" strike="noStrike">
              <a:solidFill>
                <a:srgbClr val="E2E8F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 实验：</a:t>
            </a:r>
            <a:r>
              <a:rPr lang="en-US" sz="13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基于Multi30k公开数据集，完成模型的全流程训练、验证与推理。</a:t>
            </a:r>
            <a:endParaRPr lang="en-US" sz="1300" b="0" i="0" u="none" strike="noStrike">
              <a:solidFill>
                <a:srgbClr val="E2E8F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 分析：</a:t>
            </a:r>
            <a:r>
              <a:rPr lang="en-US" sz="13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探究不同超参数设置对模型性能、参数量及训练效率的具体影响。</a:t>
            </a:r>
            <a:endParaRPr lang="en-US" sz="1300" b="0" i="0" u="none" strike="noStrike">
              <a:solidFill>
                <a:srgbClr val="E2E8F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223000" y="3429000"/>
            <a:ext cx="5207000" cy="2667000"/>
          </a:xfrm>
          <a:prstGeom prst="roundRect">
            <a:avLst>
              <a:gd name="adj" fmla="val 5714"/>
            </a:avLst>
          </a:prstGeom>
          <a:solidFill>
            <a:srgbClr val="1E293B">
              <a:alpha val="95000"/>
            </a:srgbClr>
          </a:solidFill>
          <a:ln w="12700" cap="flat" cmpd="sng">
            <a:solidFill>
              <a:srgbClr val="00FFFF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77000" y="3683000"/>
            <a:ext cx="355600" cy="3556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6985000" y="3657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项目成果 OUTCOMES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477000" y="4126865"/>
            <a:ext cx="4699000" cy="18421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000"/>
              </a:lnSpc>
              <a:defRPr/>
            </a:pPr>
            <a:r>
              <a:rPr lang="en-US" sz="1300" b="0" i="0" u="none" strike="noStrike">
                <a:solidFill>
                  <a:srgbClr val="F8717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✔</a:t>
            </a:r>
            <a:r>
              <a:rPr lang="en-US" sz="13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完成了Transformer核心代码的完整复现，代码结构清晰，模块划分合理。</a:t>
            </a:r>
            <a:endParaRPr lang="en-US" sz="1100"/>
          </a:p>
          <a:p>
            <a:pPr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F8717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✔</a:t>
            </a:r>
            <a:r>
              <a:rPr lang="en-US" sz="13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完成三组不同规模模型的对比实验，验证了深度与宽度对性能的影响。</a:t>
            </a:r>
            <a:endParaRPr lang="en-US" sz="1300" b="0" i="0" u="none" strike="noStrike">
              <a:solidFill>
                <a:srgbClr val="E2E8F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F8717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✔</a:t>
            </a:r>
            <a:r>
              <a:rPr lang="en-US" sz="13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产出包含训练/验证损失曲线、参数量统计表格及翻译预测样例的完整分析报告。</a:t>
            </a:r>
            <a:endParaRPr lang="en-US" sz="1300" b="0" i="0" u="none" strike="noStrike">
              <a:solidFill>
                <a:srgbClr val="E2E8F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论文基本信息：团队与参考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302000" cy="4445000"/>
          </a:xfrm>
          <a:prstGeom prst="roundRect">
            <a:avLst>
              <a:gd name="adj" fmla="val 4615"/>
            </a:avLst>
          </a:prstGeom>
          <a:solidFill>
            <a:srgbClr val="1E293B">
              <a:alpha val="85000"/>
            </a:srgbClr>
          </a:solidFill>
          <a:ln w="12700" cap="flat" cmpd="sng">
            <a:solidFill>
              <a:srgbClr val="00FFFF">
                <a:alpha val="4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0320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2006600"/>
            <a:ext cx="228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项目团队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794000"/>
            <a:ext cx="2921000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400" b="1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杨子木 (2024214749)</a:t>
            </a:r>
            <a:br>
              <a:rPr lang="en-US" sz="14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代码复现、实验训练、结果分析</a:t>
            </a:r>
            <a:endParaRPr lang="en-US" sz="1100"/>
          </a:p>
          <a:p>
            <a:pPr indent="0" algn="l">
              <a:lnSpc>
                <a:spcPct val="133000"/>
              </a:lnSpc>
            </a:pP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400" b="1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申婧 (2024214709)</a:t>
            </a:r>
            <a:br>
              <a:rPr lang="en-US" sz="14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论文阅读、报告撰写</a:t>
            </a:r>
            <a:endParaRPr lang="en-US" sz="1400" b="0" i="0" u="none" strike="noStrike">
              <a:solidFill>
                <a:srgbClr val="E5E7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33000"/>
              </a:lnSpc>
            </a:pP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400" b="1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康馨文 (2024214739)</a:t>
            </a:r>
            <a:br>
              <a:rPr lang="en-US" sz="14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海报制作、PPT编辑</a:t>
            </a:r>
            <a:endParaRPr lang="en-US" sz="1400" b="0" i="0" u="none" strike="noStrike">
              <a:solidFill>
                <a:srgbClr val="E5E7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4445000" y="1778000"/>
            <a:ext cx="3302000" cy="4445000"/>
          </a:xfrm>
          <a:prstGeom prst="roundRect">
            <a:avLst>
              <a:gd name="adj" fmla="val 4615"/>
            </a:avLst>
          </a:prstGeom>
          <a:solidFill>
            <a:srgbClr val="1E293B">
              <a:alpha val="85000"/>
            </a:srgbClr>
          </a:solidFill>
          <a:ln w="12700" cap="flat" cmpd="sng">
            <a:solidFill>
              <a:srgbClr val="00FFFF">
                <a:alpha val="4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9000" y="2032000"/>
            <a:ext cx="355600" cy="355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207000" y="2006600"/>
            <a:ext cx="228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参考项目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35500" y="2921000"/>
            <a:ext cx="2921000" cy="292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000"/>
              </a:lnSpc>
              <a:defRPr/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本项目主要参考了GitHub开源社区中经典的 PyTorch 实现：</a:t>
            </a:r>
            <a:endParaRPr lang="en-US" sz="1100"/>
          </a:p>
          <a:p>
            <a:pPr indent="0" algn="ctr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jadore801120/attention-is-all-you-need-pytorch</a:t>
            </a:r>
            <a:endParaRPr lang="en-US" sz="1300" b="1" i="0" u="none" strike="noStrike">
              <a:solidFill>
                <a:srgbClr val="00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33000"/>
              </a:lnSpc>
              <a:spcBef>
                <a:spcPts val="1500"/>
              </a:spcBef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在此基础上，我们进行了课程项目化的适配改造，包括重写数据处理与训练脚本，并新增了可视化展示与实验结果的深度分析功能。</a:t>
            </a:r>
            <a:endParaRPr lang="en-US" sz="13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8128000" y="1778000"/>
            <a:ext cx="3302000" cy="4445000"/>
          </a:xfrm>
          <a:prstGeom prst="roundRect">
            <a:avLst>
              <a:gd name="adj" fmla="val 4615"/>
            </a:avLst>
          </a:prstGeom>
          <a:solidFill>
            <a:srgbClr val="1E293B">
              <a:alpha val="85000"/>
            </a:srgbClr>
          </a:solidFill>
          <a:ln w="12700" cap="flat" cmpd="sng">
            <a:solidFill>
              <a:srgbClr val="00FFFF">
                <a:alpha val="4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82000" y="2032000"/>
            <a:ext cx="355600" cy="355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8890000" y="2006600"/>
            <a:ext cx="228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技术栈</a:t>
            </a:r>
            <a:endParaRPr lang="en-US" sz="1100"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8"/>
          <a:srcRect l="-9611" r="-3788"/>
          <a:stretch>
            <a:fillRect/>
          </a:stretch>
        </p:blipFill>
        <p:spPr>
          <a:xfrm>
            <a:off x="8128000" y="3086735"/>
            <a:ext cx="1715770" cy="68453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6" name="AutoShape 16"/>
          <p:cNvSpPr/>
          <p:nvPr/>
        </p:nvSpPr>
        <p:spPr>
          <a:xfrm>
            <a:off x="9843770" y="2984500"/>
            <a:ext cx="139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PyTorch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深度学习框架</a:t>
            </a:r>
            <a:endParaRPr lang="en-US" sz="1200" b="0" i="0" u="none" strike="noStrike">
              <a:solidFill>
                <a:srgbClr val="9CA3A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9"/>
          <a:srcRect l="-21179" r="-11244"/>
          <a:stretch>
            <a:fillRect/>
          </a:stretch>
        </p:blipFill>
        <p:spPr>
          <a:xfrm>
            <a:off x="8216265" y="4318000"/>
            <a:ext cx="1489710" cy="1016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8" name="AutoShape 18"/>
          <p:cNvSpPr/>
          <p:nvPr/>
        </p:nvSpPr>
        <p:spPr>
          <a:xfrm>
            <a:off x="9652000" y="4381500"/>
            <a:ext cx="139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GitHub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协作与版本管理</a:t>
            </a:r>
            <a:endParaRPr lang="en-US" sz="1200" b="0" i="0" u="none" strike="noStrike">
              <a:solidFill>
                <a:srgbClr val="9CA3A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研究背景：序列建模的演进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2032000"/>
          </a:xfrm>
          <a:prstGeom prst="roundRect">
            <a:avLst>
              <a:gd name="adj" fmla="val 7500"/>
            </a:avLst>
          </a:prstGeom>
          <a:solidFill>
            <a:srgbClr val="1E293B">
              <a:alpha val="85000"/>
            </a:srgbClr>
          </a:solidFill>
          <a:ln w="12700" cap="flat" cmpd="sng">
            <a:solidFill>
              <a:srgbClr val="00FF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9050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651000" y="1879600"/>
            <a:ext cx="3937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传统方法：RNN及其变体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424430"/>
            <a:ext cx="4699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在Transformer出现之前，主流的序列建模任务（如机器翻译、语音识别）主要依赖于循环神经网络（RNN）及其改进变体，如长短期记忆网络（LSTM）和门控循环单元（GRU）。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3937000"/>
            <a:ext cx="5207000" cy="2413000"/>
          </a:xfrm>
          <a:prstGeom prst="roundRect">
            <a:avLst>
              <a:gd name="adj" fmla="val 6315"/>
            </a:avLst>
          </a:prstGeom>
          <a:solidFill>
            <a:srgbClr val="1E293B">
              <a:alpha val="85000"/>
            </a:srgbClr>
          </a:solidFill>
          <a:ln w="12700" cap="flat" cmpd="sng">
            <a:solidFill>
              <a:srgbClr val="00FF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41910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651000" y="4165600"/>
            <a:ext cx="3937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RNN 的两大核心瓶颈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16000" y="4698365"/>
            <a:ext cx="2349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顺序计算限制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计算过程高度依赖前序时间步的输出，难以并行化处理，导致训练效率低，无法充分利用现代硬件算力。</a:t>
            </a:r>
            <a:endParaRPr lang="en-US" sz="120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3429000" y="4698365"/>
            <a:ext cx="2349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长距离依赖缺失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LSTM/GRU虽缓解了梯度消失问题，但在捕捉超长序列中相隔较远的依赖关系时，效果仍有局限。</a:t>
            </a:r>
            <a:endParaRPr lang="en-US" sz="120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223000" y="1651000"/>
            <a:ext cx="5207000" cy="4699000"/>
          </a:xfrm>
          <a:prstGeom prst="roundRect">
            <a:avLst>
              <a:gd name="adj" fmla="val 3243"/>
            </a:avLst>
          </a:prstGeom>
          <a:solidFill>
            <a:srgbClr val="FFFFFF">
              <a:alpha val="5000"/>
            </a:srgbClr>
          </a:solidFill>
          <a:ln w="25400" cap="flat" cmpd="sng">
            <a:solidFill>
              <a:srgbClr val="00FFFF">
                <a:alpha val="5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/>
          <a:srcRect l="-9013" r="-2531"/>
          <a:stretch>
            <a:fillRect/>
          </a:stretch>
        </p:blipFill>
        <p:spPr>
          <a:xfrm>
            <a:off x="5920740" y="2051685"/>
            <a:ext cx="5509260" cy="250063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5" name="AutoShape 15"/>
          <p:cNvSpPr/>
          <p:nvPr/>
        </p:nvSpPr>
        <p:spPr>
          <a:xfrm>
            <a:off x="6413500" y="4953000"/>
            <a:ext cx="482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0" i="1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图示：经典的 LSTM (长短期记忆网络) 单元结构</a:t>
            </a:r>
            <a:br>
              <a:rPr lang="en-US" sz="1300" b="0" i="1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1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它曾是解决序列依赖问题的“黄金标准”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9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研究背景：Transformer的革命性突破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1524000"/>
          </a:xfrm>
          <a:prstGeom prst="roundRect">
            <a:avLst>
              <a:gd name="adj" fmla="val 10000"/>
            </a:avLst>
          </a:prstGeom>
          <a:solidFill>
            <a:srgbClr val="1A2330">
              <a:alpha val="90000"/>
            </a:srgbClr>
          </a:solidFill>
          <a:ln w="12700" cap="flat" cmpd="sng">
            <a:solidFill>
              <a:srgbClr val="00FF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651000"/>
            <a:ext cx="10160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重要基础：</a:t>
            </a:r>
            <a:r>
              <a:rPr lang="en-US" sz="16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Transformer是现代深度学习和大语言模型的重要基础结构。</a:t>
            </a:r>
            <a:endParaRPr lang="en-US" sz="1600" b="0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论文《Attention Is All You Need》提出了完全基于注意力机制的序列建模架构，舍弃了传统循环神经网络和卷积结构，对NLP、CV及大模型发展产生了深远影响。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3302000"/>
            <a:ext cx="10668000" cy="1524000"/>
          </a:xfrm>
          <a:prstGeom prst="roundRect">
            <a:avLst>
              <a:gd name="adj" fmla="val 10000"/>
            </a:avLst>
          </a:prstGeom>
          <a:solidFill>
            <a:srgbClr val="1A2330">
              <a:alpha val="90000"/>
            </a:srgbClr>
          </a:solidFill>
          <a:ln w="12700" cap="flat" cmpd="sng">
            <a:solidFill>
              <a:srgbClr val="00FF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016000" y="3429000"/>
            <a:ext cx="10160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核心突破：</a:t>
            </a:r>
            <a:r>
              <a:rPr lang="en-US" sz="16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Transformer完全基于注意力机制构建Seq2Seq模型，彻底抛弃循环结构，实现了高度并行化计算，并能更好地捕捉全局依赖关系，解决了传统模型长程信息丢失的痛点。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5080000"/>
            <a:ext cx="10668000" cy="1524000"/>
          </a:xfrm>
          <a:prstGeom prst="roundRect">
            <a:avLst>
              <a:gd name="adj" fmla="val 10000"/>
            </a:avLst>
          </a:prstGeom>
          <a:solidFill>
            <a:srgbClr val="1A2330">
              <a:alpha val="90000"/>
            </a:srgbClr>
          </a:solidFill>
          <a:ln w="12700" cap="flat" cmpd="sng">
            <a:solidFill>
              <a:srgbClr val="00FF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016000" y="5207000"/>
            <a:ext cx="10160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项目目标：</a:t>
            </a:r>
            <a:r>
              <a:rPr lang="en-US" sz="15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本课程Project要求小组完成论文阅读、模型理解、代码复现、实验分析与展示，培养论文研读、代码复现及工程化落地能力。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核心思想：Attention is All You Need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334000" cy="1714500"/>
          </a:xfrm>
          <a:prstGeom prst="roundRect">
            <a:avLst>
              <a:gd name="adj" fmla="val 5925"/>
            </a:avLst>
          </a:prstGeom>
          <a:solidFill>
            <a:srgbClr val="171F2E">
              <a:alpha val="85000"/>
            </a:srgbClr>
          </a:solidFill>
          <a:ln w="12700" cap="flat" cmpd="sng">
            <a:solidFill>
              <a:srgbClr val="00FF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714500"/>
            <a:ext cx="48260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抛弃循环，拥抱注意力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Transformer的核心思想正如其论文标题所言——“Attention Is All You Need”。它完全摒弃了RNN和CNN结构，仅依赖于</a:t>
            </a:r>
            <a:r>
              <a:rPr lang="en-US" sz="1300" b="1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自注意力机制（Self-Attention）</a:t>
            </a: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来捕捉序列内部的依赖关系。</a:t>
            </a:r>
            <a:endParaRPr lang="en-US" sz="13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62000" y="3429000"/>
            <a:ext cx="5334000" cy="1778000"/>
          </a:xfrm>
          <a:prstGeom prst="roundRect">
            <a:avLst>
              <a:gd name="adj" fmla="val 5714"/>
            </a:avLst>
          </a:prstGeom>
          <a:solidFill>
            <a:srgbClr val="171F2E">
              <a:alpha val="85000"/>
            </a:srgbClr>
          </a:solidFill>
          <a:ln w="12700" cap="flat" cmpd="sng">
            <a:solidFill>
              <a:srgbClr val="00FF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016000" y="3619500"/>
            <a:ext cx="4826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自注意力机制 (Self-Attention)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200" b="1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定义：</a:t>
            </a:r>
            <a:r>
              <a:rPr lang="en-US" sz="12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允许模型在处理一个词(Token)时，动态计算输入序列中所有其他词对该词的重要性（即“注意力权重”）。</a:t>
            </a:r>
            <a:endParaRPr lang="en-US" sz="1200" b="0" i="0" u="none" strike="noStrike">
              <a:solidFill>
                <a:srgbClr val="E5E7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  <a:spcBef>
                <a:spcPts val="400"/>
              </a:spcBef>
            </a:pPr>
            <a:r>
              <a:rPr lang="en-US" sz="12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200" b="1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工作方式：</a:t>
            </a:r>
            <a:r>
              <a:rPr lang="en-US" sz="12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对序列中的每个位置，模型关注所有位置，并根据重要性来构建当前位置的新表示。</a:t>
            </a:r>
            <a:endParaRPr lang="en-US" sz="1200" b="0" i="0" u="none" strike="noStrike">
              <a:solidFill>
                <a:srgbClr val="E5E7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762000" y="5334000"/>
            <a:ext cx="5334000" cy="1206500"/>
          </a:xfrm>
          <a:prstGeom prst="roundRect">
            <a:avLst>
              <a:gd name="adj" fmla="val 8421"/>
            </a:avLst>
          </a:prstGeom>
          <a:solidFill>
            <a:srgbClr val="171F2E">
              <a:alpha val="90000"/>
            </a:srgbClr>
          </a:solidFill>
          <a:ln w="12700" cap="flat" cmpd="sng">
            <a:solidFill>
              <a:srgbClr val="F97316">
                <a:alpha val="7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016000" y="5461000"/>
            <a:ext cx="4826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FFC8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场景示例：</a:t>
            </a:r>
            <a: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句子 "The animal didn't cross the street because</a:t>
            </a:r>
            <a:r>
              <a:rPr lang="en-US" sz="1200" b="1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it</a:t>
            </a:r>
            <a: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was too tired" 中，处理 "</a:t>
            </a:r>
            <a:r>
              <a:rPr lang="en-US" sz="1200" b="1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it</a:t>
            </a:r>
            <a: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" 时，模型会将更高权重分配给 "</a:t>
            </a:r>
            <a:r>
              <a:rPr lang="en-US" sz="1200" b="1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animal</a:t>
            </a:r>
            <a: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"。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2"/>
          <a:srcRect l="7812" r="7812"/>
          <a:stretch>
            <a:fillRect/>
          </a:stretch>
        </p:blipFill>
        <p:spPr>
          <a:xfrm>
            <a:off x="6477000" y="2032000"/>
            <a:ext cx="4953000" cy="3302000"/>
          </a:xfrm>
          <a:prstGeom prst="rect">
            <a:avLst/>
          </a:prstGeom>
          <a:noFill/>
          <a:ln w="25400" cap="flat" cmpd="sng">
            <a:solidFill>
              <a:srgbClr val="00FFFF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11" name="AutoShape 11"/>
          <p:cNvSpPr/>
          <p:nvPr/>
        </p:nvSpPr>
        <p:spPr>
          <a:xfrm>
            <a:off x="6477000" y="5524500"/>
            <a:ext cx="4953000" cy="1016000"/>
          </a:xfrm>
          <a:prstGeom prst="roundRect">
            <a:avLst>
              <a:gd name="adj" fmla="val 10000"/>
            </a:avLst>
          </a:prstGeom>
          <a:solidFill>
            <a:srgbClr val="00FFFF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667500" y="5651500"/>
            <a:ext cx="457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并行计算 · 全局依赖 · 一步到位</a:t>
            </a:r>
            <a:endParaRPr lang="en-US" sz="1100"/>
          </a:p>
          <a:p>
            <a:pPr indent="0" algn="ctr">
              <a:lnSpc>
                <a:spcPct val="125000"/>
              </a:lnSpc>
              <a:spcBef>
                <a:spcPts val="600"/>
              </a:spcBef>
            </a:pPr>
            <a:r>
              <a:rPr lang="en-US" sz="1100" b="0" i="0" u="none" strike="noStrike">
                <a:solidFill>
                  <a:srgbClr val="C8E6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打破循环神经网络(RNN)的序列化计算瓶颈</a:t>
            </a:r>
            <a:endParaRPr lang="en-US" sz="1100" b="0" i="0" u="none" strike="noStrike">
              <a:solidFill>
                <a:srgbClr val="C8E6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整体架构：Transformer模型详解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302000" cy="3302000"/>
          </a:xfrm>
          <a:prstGeom prst="roundRect">
            <a:avLst>
              <a:gd name="adj" fmla="val 3076"/>
            </a:avLst>
          </a:prstGeom>
          <a:solidFill>
            <a:srgbClr val="142332">
              <a:alpha val="90000"/>
            </a:srgbClr>
          </a:solidFill>
          <a:ln w="12700" cap="flat" cmpd="sng">
            <a:solidFill>
              <a:srgbClr val="00FFFF">
                <a:alpha val="7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18415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397000" y="1803400"/>
            <a:ext cx="2413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编码器 (Encoder)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476500"/>
            <a:ext cx="2921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由</a:t>
            </a:r>
            <a:r>
              <a:rPr lang="en-US" sz="1300" b="1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N=6个相同的层</a:t>
            </a:r>
            <a:r>
              <a:rPr lang="en-US" sz="13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堆叠而成，实现对输入序列的深度特征提取。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每一层核心组件：</a:t>
            </a:r>
            <a:r>
              <a:rPr lang="en-US" sz="1300" b="1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多头自注意力机制</a:t>
            </a:r>
            <a:r>
              <a:rPr lang="en-US" sz="13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+</a:t>
            </a:r>
            <a:r>
              <a:rPr lang="en-US" sz="1300" b="1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位置前馈网络</a:t>
            </a:r>
            <a:r>
              <a:rPr lang="en-US" sz="13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300" b="0" i="0" u="none" strike="noStrike">
              <a:solidFill>
                <a:srgbClr val="E5E7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稳定训练的关键：所有子层均配备</a:t>
            </a:r>
            <a:r>
              <a:rPr lang="en-US" sz="1300" b="0" i="0" u="none" strike="noStrike">
                <a:solidFill>
                  <a:srgbClr val="FACC1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残差连接</a:t>
            </a:r>
            <a:r>
              <a:rPr lang="en-US" sz="13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</a:t>
            </a:r>
            <a:r>
              <a:rPr lang="en-US" sz="1300" b="0" i="0" u="none" strike="noStrike">
                <a:solidFill>
                  <a:srgbClr val="FACC1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层归一化</a:t>
            </a:r>
            <a:r>
              <a:rPr lang="en-US" sz="13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300" b="0" i="0" u="none" strike="noStrike">
              <a:solidFill>
                <a:srgbClr val="E5E7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rcRect t="-3049" b="-4020"/>
          <a:stretch>
            <a:fillRect/>
          </a:stretch>
        </p:blipFill>
        <p:spPr>
          <a:xfrm>
            <a:off x="4854575" y="1352550"/>
            <a:ext cx="2482850" cy="3899535"/>
          </a:xfrm>
          <a:prstGeom prst="rect">
            <a:avLst/>
          </a:prstGeom>
          <a:noFill/>
          <a:ln w="25400" cap="flat" cmpd="sng">
            <a:solidFill>
              <a:srgbClr val="00FFFF">
                <a:alpha val="8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9" name="AutoShape 9"/>
          <p:cNvSpPr/>
          <p:nvPr/>
        </p:nvSpPr>
        <p:spPr>
          <a:xfrm>
            <a:off x="8128000" y="1651000"/>
            <a:ext cx="3302000" cy="3302000"/>
          </a:xfrm>
          <a:prstGeom prst="roundRect">
            <a:avLst>
              <a:gd name="adj" fmla="val 3076"/>
            </a:avLst>
          </a:prstGeom>
          <a:solidFill>
            <a:srgbClr val="142332">
              <a:alpha val="90000"/>
            </a:srgbClr>
          </a:solidFill>
          <a:ln w="12700" cap="flat" cmpd="sng">
            <a:solidFill>
              <a:srgbClr val="00FFFF">
                <a:alpha val="7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18500" y="1841500"/>
            <a:ext cx="355600" cy="355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8763000" y="1803400"/>
            <a:ext cx="2413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解码器 (Decoder)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318500" y="2476500"/>
            <a:ext cx="2921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同样由</a:t>
            </a:r>
            <a:r>
              <a:rPr lang="en-US" sz="1300" b="1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N=6个相同的层</a:t>
            </a:r>
            <a:r>
              <a:rPr lang="en-US" sz="13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堆叠，负责生成目标输出序列。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层级构成：</a:t>
            </a:r>
            <a:r>
              <a:rPr lang="en-US" sz="1300" b="1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掩码多头自注意力</a:t>
            </a:r>
            <a:r>
              <a:rPr lang="en-US" sz="13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→</a:t>
            </a:r>
            <a:r>
              <a:rPr lang="en-US" sz="1300" b="1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编码器-解码器注意力</a:t>
            </a:r>
            <a:r>
              <a:rPr lang="en-US" sz="13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→</a:t>
            </a:r>
            <a:r>
              <a:rPr lang="en-US" sz="1300" b="1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前馈网络</a:t>
            </a:r>
            <a:r>
              <a:rPr lang="en-US" sz="13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300" b="0" i="0" u="none" strike="noStrike">
              <a:solidFill>
                <a:srgbClr val="E5E7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同样沿用</a:t>
            </a:r>
            <a:r>
              <a:rPr lang="en-US" sz="1300" b="0" i="0" u="none" strike="noStrike">
                <a:solidFill>
                  <a:srgbClr val="FACC1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“残差+层归一化”</a:t>
            </a:r>
            <a:r>
              <a:rPr lang="en-US" sz="13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的标准化设计，确保梯度流动顺畅。</a:t>
            </a:r>
            <a:endParaRPr lang="en-US" sz="1300" b="0" i="0" u="none" strike="noStrike">
              <a:solidFill>
                <a:srgbClr val="E5E7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62000" y="5207000"/>
            <a:ext cx="10668000" cy="1270000"/>
          </a:xfrm>
          <a:prstGeom prst="roundRect">
            <a:avLst>
              <a:gd name="adj" fmla="val 8000"/>
            </a:avLst>
          </a:prstGeom>
          <a:solidFill>
            <a:srgbClr val="0F172A">
              <a:alpha val="90000"/>
            </a:srgbClr>
          </a:solidFill>
          <a:ln w="12700" cap="flat" cmpd="sng">
            <a:solidFill>
              <a:srgbClr val="00FF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5461000"/>
            <a:ext cx="457200" cy="4572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651000" y="5397500"/>
            <a:ext cx="266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输入处理 (Embedding &amp; Pos)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词向量嵌入与位置编码结合，保留序列顺序信息，送入编码器。</a:t>
            </a:r>
            <a:endParaRPr lang="en-US" sz="1200" b="0" i="0" u="none" strike="noStrike">
              <a:solidFill>
                <a:srgbClr val="9CA3A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572000" y="5461000"/>
            <a:ext cx="457200" cy="4572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5207000" y="5397500"/>
            <a:ext cx="266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信息交互 (Context Vector)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编码器的输出结果作为“En-Dec Attention”层的K和V，传递全局上下文。</a:t>
            </a:r>
            <a:endParaRPr lang="en-US" sz="1200" b="0" i="0" u="none" strike="noStrike">
              <a:solidFill>
                <a:srgbClr val="9CA3A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128000" y="5461000"/>
            <a:ext cx="457200" cy="4572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8763000" y="5397500"/>
            <a:ext cx="254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最终预测 (Linear + Softmax)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线性层映射回词表维度，Softmax计算概率分布，逐词生成输出。</a:t>
            </a:r>
            <a:endParaRPr lang="en-US" sz="1200" b="0" i="0" u="none" strike="noStrike">
              <a:solidFill>
                <a:srgbClr val="9CA3A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关键机制：Scaled Dot-Product Attention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588000" cy="1270000"/>
          </a:xfrm>
          <a:prstGeom prst="roundRect">
            <a:avLst>
              <a:gd name="adj" fmla="val 12000"/>
            </a:avLst>
          </a:prstGeom>
          <a:solidFill>
            <a:srgbClr val="17253C">
              <a:alpha val="95000"/>
            </a:srgbClr>
          </a:solidFill>
          <a:ln w="25400" cap="flat" cmpd="sng">
            <a:solidFill>
              <a:srgbClr val="00FFFF">
                <a:alpha val="8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889000" y="1714500"/>
            <a:ext cx="533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8FAFC"/>
                </a:solidFill>
                <a:latin typeface="+mj-lt"/>
                <a:ea typeface="Roboto Mono"/>
                <a:cs typeface="+mj-lt"/>
                <a:sym typeface="Roboto Mono"/>
              </a:rPr>
              <a:t>Attention(Q, K, V) = softmax(Q · K</a:t>
            </a:r>
            <a:r>
              <a:rPr lang="en-US" sz="1400" b="1" i="0" u="none" strike="noStrike">
                <a:solidFill>
                  <a:srgbClr val="F8FAFC"/>
                </a:solidFill>
                <a:latin typeface="+mj-lt"/>
                <a:ea typeface="Roboto Mono"/>
                <a:cs typeface="+mj-lt"/>
                <a:sym typeface="Roboto Mono"/>
              </a:rPr>
              <a:t>T</a:t>
            </a:r>
            <a:r>
              <a:rPr lang="en-US" sz="2000" b="1" i="0" u="none" strike="noStrike">
                <a:solidFill>
                  <a:srgbClr val="F8FAFC"/>
                </a:solidFill>
                <a:latin typeface="+mj-lt"/>
                <a:ea typeface="Roboto Mono"/>
                <a:cs typeface="+mj-lt"/>
                <a:sym typeface="Roboto Mono"/>
              </a:rPr>
              <a:t>/ √d</a:t>
            </a:r>
            <a:r>
              <a:rPr lang="en-US" sz="1400" b="1" i="0" u="none" strike="noStrike">
                <a:solidFill>
                  <a:srgbClr val="F8FAFC"/>
                </a:solidFill>
                <a:latin typeface="+mj-lt"/>
                <a:ea typeface="Roboto Mono"/>
                <a:cs typeface="+mj-lt"/>
                <a:sym typeface="Roboto Mono"/>
              </a:rPr>
              <a:t>k</a:t>
            </a:r>
            <a:r>
              <a:rPr lang="en-US" sz="2000" b="1" i="0" u="none" strike="noStrike">
                <a:solidFill>
                  <a:srgbClr val="F8FAFC"/>
                </a:solidFill>
                <a:latin typeface="+mj-lt"/>
                <a:ea typeface="Roboto Mono"/>
                <a:cs typeface="+mj-lt"/>
                <a:sym typeface="Roboto Mono"/>
              </a:rPr>
              <a:t>) · V</a:t>
            </a:r>
            <a:endParaRPr lang="en-US" sz="1100">
              <a:latin typeface="+mj-lt"/>
              <a:cs typeface="+mj-lt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62000" y="3048000"/>
            <a:ext cx="2667000" cy="3048000"/>
          </a:xfrm>
          <a:prstGeom prst="roundRect">
            <a:avLst>
              <a:gd name="adj" fmla="val 3809"/>
            </a:avLst>
          </a:prstGeom>
          <a:solidFill>
            <a:srgbClr val="1E293B">
              <a:alpha val="90000"/>
            </a:srgbClr>
          </a:solidFill>
          <a:ln w="12700" cap="flat" cmpd="sng">
            <a:solidFill>
              <a:srgbClr val="00FF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889000" y="3175000"/>
            <a:ext cx="2413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Q, K, V 核心向量</a:t>
            </a:r>
            <a:endParaRPr lang="en-US" sz="1100"/>
          </a:p>
          <a:p>
            <a:pPr indent="0" algn="l">
              <a:lnSpc>
                <a:spcPct val="100000"/>
              </a:lnSpc>
              <a:spcBef>
                <a:spcPts val="400"/>
              </a:spcBef>
            </a:pPr>
            <a:r>
              <a:rPr lang="en-US" sz="12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由输入向量通过三个独立的线性变换层得到，是计算的基础。</a:t>
            </a:r>
            <a:endParaRPr lang="en-US" sz="120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  <a:spcBef>
                <a:spcPts val="1600"/>
              </a:spcBef>
            </a:pPr>
            <a:r>
              <a:rPr lang="en-US" sz="1600" b="1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计算“相似度”</a:t>
            </a:r>
            <a:endParaRPr lang="en-US" sz="1600" b="1" i="0" u="none" strike="noStrike">
              <a:solidFill>
                <a:srgbClr val="00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  <a:spcBef>
                <a:spcPts val="400"/>
              </a:spcBef>
            </a:pPr>
            <a:r>
              <a:rPr lang="en-US" sz="12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 Query 与所有 Key 做矩阵点积，生成初始匹配分数。</a:t>
            </a:r>
            <a:endParaRPr lang="en-US" sz="120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  <a:spcBef>
                <a:spcPts val="1600"/>
              </a:spcBef>
            </a:pPr>
            <a:r>
              <a:rPr lang="en-US" sz="1600" b="1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03. 数值缩放 (Scaling)</a:t>
            </a:r>
            <a:endParaRPr lang="en-US" sz="1600" b="1" i="0" u="none" strike="noStrike">
              <a:solidFill>
                <a:srgbClr val="00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  <a:spcBef>
                <a:spcPts val="400"/>
              </a:spcBef>
            </a:pPr>
            <a:r>
              <a:rPr lang="en-US" sz="12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除以 √d_k 防止点积数值过大导致 Softmax 梯度消失，稳定训练。</a:t>
            </a:r>
            <a:endParaRPr lang="en-US" sz="120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3683000" y="3048000"/>
            <a:ext cx="2667000" cy="3048000"/>
          </a:xfrm>
          <a:prstGeom prst="roundRect">
            <a:avLst>
              <a:gd name="adj" fmla="val 3809"/>
            </a:avLst>
          </a:prstGeom>
          <a:solidFill>
            <a:srgbClr val="1E293B">
              <a:alpha val="90000"/>
            </a:srgbClr>
          </a:solidFill>
          <a:ln w="12700" cap="flat" cmpd="sng">
            <a:solidFill>
              <a:srgbClr val="00FF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3810000" y="3175000"/>
            <a:ext cx="2413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04. 归一化 (Softmax)</a:t>
            </a:r>
            <a:endParaRPr lang="en-US" sz="1100"/>
          </a:p>
          <a:p>
            <a:pPr indent="0" algn="l">
              <a:lnSpc>
                <a:spcPct val="100000"/>
              </a:lnSpc>
              <a:spcBef>
                <a:spcPts val="400"/>
              </a:spcBef>
            </a:pPr>
            <a:r>
              <a:rPr lang="en-US" sz="12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将相似度分数转化为总和为 1 的概率分布，即注意力权重，体现相关性强弱。</a:t>
            </a:r>
            <a:endParaRPr lang="en-US" sz="120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  <a:spcBef>
                <a:spcPts val="2400"/>
              </a:spcBef>
            </a:pPr>
            <a:r>
              <a:rPr lang="en-US" sz="1600" b="1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05. 加权求和 (Output)</a:t>
            </a:r>
            <a:endParaRPr lang="en-US" sz="1600" b="1" i="0" u="none" strike="noStrike">
              <a:solidFill>
                <a:srgbClr val="00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  <a:spcBef>
                <a:spcPts val="400"/>
              </a:spcBef>
            </a:pPr>
            <a:r>
              <a:rPr lang="en-US" sz="12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将权重与 Value 矩阵相乘并求和，融合上下文信息，得到最终输出。</a:t>
            </a:r>
            <a:endParaRPr lang="en-US" sz="120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2"/>
          <a:srcRect t="14095" b="14095"/>
          <a:stretch>
            <a:fillRect/>
          </a:stretch>
        </p:blipFill>
        <p:spPr>
          <a:xfrm>
            <a:off x="6731000" y="2032000"/>
            <a:ext cx="4699000" cy="4064000"/>
          </a:xfrm>
          <a:prstGeom prst="roundRect">
            <a:avLst>
              <a:gd name="adj" fmla="val 3750"/>
            </a:avLst>
          </a:prstGeom>
          <a:noFill/>
          <a:ln w="25400" cap="flat" cmpd="sng">
            <a:solidFill>
              <a:srgbClr val="00FFFF">
                <a:alpha val="9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 关键机制：Multi-Head Attention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07000" cy="1397000"/>
          </a:xfrm>
          <a:prstGeom prst="roundRect">
            <a:avLst>
              <a:gd name="adj" fmla="val 7272"/>
            </a:avLst>
          </a:prstGeom>
          <a:solidFill>
            <a:srgbClr val="1E293B">
              <a:alpha val="90000"/>
            </a:srgbClr>
          </a:solidFill>
          <a:ln w="12700" cap="flat" cmpd="sng">
            <a:solidFill>
              <a:srgbClr val="00F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17145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397000" y="1676400"/>
            <a:ext cx="4318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核心动机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单一注意力头仅能捕捉有限的依赖关系，多头机制允许模型在不同的表示子空间中，协同关注来自序列不同位置的多重特征与信息。</a:t>
            </a:r>
            <a:endParaRPr lang="en-US" sz="1300" b="0" i="0" u="none" strike="noStrike">
              <a:solidFill>
                <a:srgbClr val="E2E8F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762000" y="3175000"/>
            <a:ext cx="5207000" cy="2032000"/>
          </a:xfrm>
          <a:prstGeom prst="roundRect">
            <a:avLst>
              <a:gd name="adj" fmla="val 5000"/>
            </a:avLst>
          </a:prstGeom>
          <a:solidFill>
            <a:srgbClr val="1E293B">
              <a:alpha val="90000"/>
            </a:srgbClr>
          </a:solidFill>
          <a:ln w="12700" cap="flat" cmpd="sng">
            <a:solidFill>
              <a:srgbClr val="00F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33655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397000" y="3327400"/>
            <a:ext cx="4318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计算流程 (4步)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</a:t>
            </a:r>
            <a:r>
              <a:rPr lang="en-US" sz="1200" b="1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线性投影：</a:t>
            </a:r>
            <a:r>
              <a:rPr lang="en-US" sz="12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对Q, K, V进行</a:t>
            </a:r>
            <a:r>
              <a:rPr lang="en-US" sz="1200" b="1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h次</a:t>
            </a:r>
            <a:r>
              <a:rPr lang="en-US" sz="12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独立的线性变换，生成多组向量。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</a:t>
            </a:r>
            <a:r>
              <a:rPr lang="en-US" sz="1200" b="1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并行计算：</a:t>
            </a:r>
            <a:r>
              <a:rPr lang="en-US" sz="12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对h组向量并行执行 Scaled Dot-Product Attention。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</a:t>
            </a:r>
            <a:r>
              <a:rPr lang="en-US" sz="1200" b="1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拼接融合：</a:t>
            </a:r>
            <a:r>
              <a:rPr lang="en-US" sz="12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将h个独立的注意力输出在最后一维拼接成大向量。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4.</a:t>
            </a:r>
            <a:r>
              <a:rPr lang="en-US" sz="1200" b="1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最终映射：</a:t>
            </a:r>
            <a:r>
              <a:rPr lang="en-US" sz="12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通过一个最终的线性层整合信息，输出结果。</a:t>
            </a:r>
            <a:endParaRPr lang="en-US" sz="120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762000" y="5334000"/>
            <a:ext cx="5207000" cy="1270000"/>
          </a:xfrm>
          <a:prstGeom prst="roundRect">
            <a:avLst>
              <a:gd name="adj" fmla="val 8000"/>
            </a:avLst>
          </a:prstGeom>
          <a:solidFill>
            <a:srgbClr val="1E293B">
              <a:alpha val="90000"/>
            </a:srgbClr>
          </a:solidFill>
          <a:ln w="12700" cap="flat" cmpd="sng">
            <a:solidFill>
              <a:srgbClr val="00F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" y="55245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397000" y="5486400"/>
            <a:ext cx="4318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机制优势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300" b="1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表达力增强：</a:t>
            </a:r>
            <a:r>
              <a:rPr lang="en-US" sz="13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不同头能学习并编码不同类型的语义与位置依赖模式。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300" b="1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性能提升：</a:t>
            </a:r>
            <a:r>
              <a:rPr lang="en-US" sz="13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多视角信息的融合，让模型对序列的理解更加全面、准确。</a:t>
            </a:r>
            <a:endParaRPr lang="en-US" sz="1300" b="0" i="0" u="none" strike="noStrike">
              <a:solidFill>
                <a:srgbClr val="E2E8F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223000" y="1651000"/>
            <a:ext cx="5207000" cy="4953000"/>
          </a:xfrm>
          <a:prstGeom prst="roundRect">
            <a:avLst>
              <a:gd name="adj" fmla="val 3076"/>
            </a:avLst>
          </a:prstGeom>
          <a:solidFill>
            <a:srgbClr val="0F172A">
              <a:alpha val="95000"/>
            </a:srgbClr>
          </a:solidFill>
          <a:ln w="25400" cap="flat" cmpd="sng">
            <a:solidFill>
              <a:srgbClr val="00FFFF">
                <a:alpha val="5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/>
          <a:srcRect l="146" r="-2955"/>
          <a:stretch>
            <a:fillRect/>
          </a:stretch>
        </p:blipFill>
        <p:spPr>
          <a:xfrm>
            <a:off x="6223000" y="2032000"/>
            <a:ext cx="5368925" cy="304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5" name="AutoShape 15"/>
          <p:cNvSpPr/>
          <p:nvPr/>
        </p:nvSpPr>
        <p:spPr>
          <a:xfrm>
            <a:off x="6413500" y="5334000"/>
            <a:ext cx="482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Multi-Head Attention 架构示意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图中展示了8个注意力头并行计算并最终融合的过程</a:t>
            </a:r>
            <a:endParaRPr lang="en-US" sz="110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9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07 模块分析：Encoder Layer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1397000"/>
          </a:xfrm>
          <a:prstGeom prst="roundRect">
            <a:avLst>
              <a:gd name="adj" fmla="val 10909"/>
            </a:avLst>
          </a:prstGeom>
          <a:solidFill>
            <a:srgbClr val="1C2330">
              <a:alpha val="95000"/>
            </a:srgbClr>
          </a:solidFill>
          <a:ln w="12700" cap="flat" cmpd="sng">
            <a:solidFill>
              <a:srgbClr val="00FFFF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714500"/>
            <a:ext cx="203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🧩 核心架构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典型的“三明治”结构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双Sublayer + 双重残差连接</a:t>
            </a:r>
            <a:endParaRPr lang="en-US" sz="13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3302000" y="1714500"/>
            <a:ext cx="787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+mj-lt"/>
                <a:ea typeface="Roboto Mono"/>
                <a:cs typeface="+mj-lt"/>
                <a:sym typeface="Roboto Mono"/>
              </a:rPr>
              <a:t>X →</a:t>
            </a:r>
            <a:r>
              <a:rPr lang="en-US" sz="1600" b="1" i="0" u="none" strike="noStrike">
                <a:solidFill>
                  <a:srgbClr val="00FFFF"/>
                </a:solidFill>
                <a:latin typeface="+mj-lt"/>
                <a:ea typeface="Roboto Mono"/>
                <a:cs typeface="+mj-lt"/>
                <a:sym typeface="Roboto Mono"/>
              </a:rPr>
              <a:t>Multi-Head Attention</a:t>
            </a:r>
            <a:r>
              <a:rPr lang="en-US" sz="1600" b="0" i="0" u="none" strike="noStrike">
                <a:solidFill>
                  <a:srgbClr val="D1D5DB"/>
                </a:solidFill>
                <a:latin typeface="+mj-lt"/>
                <a:ea typeface="Roboto Mono"/>
                <a:cs typeface="+mj-lt"/>
                <a:sym typeface="Roboto Mono"/>
              </a:rPr>
              <a:t>→ Add &amp; Norm →</a:t>
            </a:r>
            <a:r>
              <a:rPr lang="en-US" sz="1600" b="1" i="0" u="none" strike="noStrike">
                <a:solidFill>
                  <a:srgbClr val="FBBF24"/>
                </a:solidFill>
                <a:latin typeface="+mj-lt"/>
                <a:ea typeface="Roboto Mono"/>
                <a:cs typeface="+mj-lt"/>
                <a:sym typeface="Roboto Mono"/>
              </a:rPr>
              <a:t>Feed Forward Network</a:t>
            </a:r>
            <a:r>
              <a:rPr lang="en-US" sz="1600" b="0" i="0" u="none" strike="noStrike">
                <a:solidFill>
                  <a:srgbClr val="D1D5DB"/>
                </a:solidFill>
                <a:latin typeface="+mj-lt"/>
                <a:ea typeface="Roboto Mono"/>
                <a:cs typeface="+mj-lt"/>
                <a:sym typeface="Roboto Mono"/>
              </a:rPr>
              <a:t>→ Add &amp; Norm</a:t>
            </a:r>
            <a:endParaRPr lang="en-US" sz="1100">
              <a:latin typeface="+mj-lt"/>
              <a:cs typeface="+mj-lt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762000" y="3175000"/>
            <a:ext cx="3302000" cy="3048000"/>
          </a:xfrm>
          <a:prstGeom prst="roundRect">
            <a:avLst>
              <a:gd name="adj" fmla="val 3333"/>
            </a:avLst>
          </a:prstGeom>
          <a:solidFill>
            <a:srgbClr val="1C2330">
              <a:alpha val="95000"/>
            </a:srgbClr>
          </a:solidFill>
          <a:ln w="12700" cap="flat" cmpd="sng">
            <a:solidFill>
              <a:srgbClr val="37415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762000" y="3175000"/>
            <a:ext cx="3302000" cy="50800"/>
          </a:xfrm>
          <a:prstGeom prst="roundRect">
            <a:avLst>
              <a:gd name="adj" fmla="val 0"/>
            </a:avLst>
          </a:prstGeom>
          <a:solidFill>
            <a:srgbClr val="00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34925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587500" y="3479800"/>
            <a:ext cx="228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多头自注意力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952500" y="4191000"/>
            <a:ext cx="2921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编码器输入序列中的每个位置都会“关注”序列中的</a:t>
            </a:r>
            <a:r>
              <a:rPr lang="en-US" sz="1300" b="0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所有位置</a:t>
            </a: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（包括自身）。这使模型能够从全局视角，为每一个单词构建具有上下文感知能力的语义表示。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445000" y="3175000"/>
            <a:ext cx="3302000" cy="3048000"/>
          </a:xfrm>
          <a:prstGeom prst="roundRect">
            <a:avLst>
              <a:gd name="adj" fmla="val 3333"/>
            </a:avLst>
          </a:prstGeom>
          <a:solidFill>
            <a:srgbClr val="1C2330">
              <a:alpha val="95000"/>
            </a:srgbClr>
          </a:solidFill>
          <a:ln w="12700" cap="flat" cmpd="sng">
            <a:solidFill>
              <a:srgbClr val="37415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4445000" y="3175000"/>
            <a:ext cx="3302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9000" y="34925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5270500" y="3479800"/>
            <a:ext cx="228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Add &amp; Norm </a:t>
            </a:r>
            <a:endParaRPr lang="en-US" sz="18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(残差+归一化)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635500" y="4191000"/>
            <a:ext cx="2921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300" b="1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残差连接:</a:t>
            </a: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公式为</a:t>
            </a:r>
            <a:r>
              <a:rPr lang="en-US" sz="1300" b="0" i="0" u="none" strike="noStrike">
                <a:solidFill>
                  <a:srgbClr val="D1D5DB"/>
                </a:solidFill>
                <a:latin typeface="+mj-lt"/>
                <a:ea typeface="Roboto Mono"/>
                <a:cs typeface="+mj-lt"/>
                <a:sym typeface="Roboto Mono"/>
              </a:rPr>
              <a:t>LayerNorm(x + Sublayer(x))</a:t>
            </a:r>
            <a:r>
              <a:rPr lang="en-US" sz="1300" b="0" i="0" u="none" strike="noStrike">
                <a:solidFill>
                  <a:srgbClr val="D1D5DB"/>
                </a:solidFill>
                <a:latin typeface="+mj-lt"/>
                <a:ea typeface="Noto Sans SC" panose="020B0200000000000000" charset="-122"/>
                <a:cs typeface="+mj-lt"/>
                <a:sym typeface="Noto Sans SC" panose="020B0200000000000000" charset="-122"/>
              </a:rPr>
              <a:t>，</a:t>
            </a: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有效解决了深层网络中的梯度消失难题，让模型训练更深层成为可能。</a:t>
            </a:r>
            <a:b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300" b="1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层归一化:</a:t>
            </a: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对每个样本的特征维度做归一化处理，显著加速模型收敛并稳定训练过程。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128000" y="3175000"/>
            <a:ext cx="3302000" cy="3048000"/>
          </a:xfrm>
          <a:prstGeom prst="roundRect">
            <a:avLst>
              <a:gd name="adj" fmla="val 3333"/>
            </a:avLst>
          </a:prstGeom>
          <a:solidFill>
            <a:srgbClr val="1C2330">
              <a:alpha val="95000"/>
            </a:srgbClr>
          </a:solidFill>
          <a:ln w="12700" cap="flat" cmpd="sng">
            <a:solidFill>
              <a:srgbClr val="37415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8128000" y="3175000"/>
            <a:ext cx="3302000" cy="50800"/>
          </a:xfrm>
          <a:prstGeom prst="roundRect">
            <a:avLst>
              <a:gd name="adj" fmla="val 0"/>
            </a:avLst>
          </a:prstGeom>
          <a:solidFill>
            <a:srgbClr val="FBBF2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82000" y="3492500"/>
            <a:ext cx="406400" cy="4064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8953500" y="3479800"/>
            <a:ext cx="228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前馈网络 (FFN)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318500" y="4191000"/>
            <a:ext cx="2921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对每个位置的向量表示进行独立且相同的非线性变换。公式为：</a:t>
            </a:r>
            <a:b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D1D5DB"/>
                </a:solidFill>
                <a:latin typeface="+mj-lt"/>
                <a:ea typeface="Roboto Mono"/>
                <a:cs typeface="+mj-lt"/>
                <a:sym typeface="Roboto Mono"/>
              </a:rPr>
              <a:t>FFN(x) = max(0, x*W1 + b1) * W2 + b2</a:t>
            </a:r>
            <a:br>
              <a:rPr lang="en-US" sz="1300" b="0" i="0" u="none" strike="noStrike">
                <a:solidFill>
                  <a:srgbClr val="D1D5DB"/>
                </a:solidFill>
                <a:latin typeface="+mj-lt"/>
                <a:ea typeface="Noto Sans SC" panose="020B0200000000000000" charset="-122"/>
                <a:cs typeface="+mj-lt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它进一步增强了模型对特征的表达能力。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07 模块分析：Decoder Layer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1397000"/>
          </a:xfrm>
          <a:prstGeom prst="roundRect">
            <a:avLst>
              <a:gd name="adj" fmla="val 10909"/>
            </a:avLst>
          </a:prstGeom>
          <a:solidFill>
            <a:srgbClr val="111827">
              <a:alpha val="92000"/>
            </a:srgbClr>
          </a:solidFill>
          <a:ln w="12700" cap="flat" cmpd="sng">
            <a:solidFill>
              <a:srgbClr val="00FFFF">
                <a:alpha val="5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952500" y="1651000"/>
            <a:ext cx="10287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5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数据流向：X →</a:t>
            </a:r>
            <a:r>
              <a:rPr lang="en-US" sz="1700" b="1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掩码多头自注意力</a:t>
            </a:r>
            <a:r>
              <a:rPr lang="en-US" sz="15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→ Add &amp; Norm →</a:t>
            </a:r>
            <a:r>
              <a:rPr lang="en-US" sz="1700" b="1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编码器-解码器注意力</a:t>
            </a:r>
            <a:r>
              <a:rPr lang="en-US" sz="15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→ Add &amp; Norm →</a:t>
            </a:r>
            <a:r>
              <a:rPr lang="en-US" sz="1700" b="1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前馈网络</a:t>
            </a:r>
            <a:r>
              <a:rPr lang="en-US" sz="15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→ Add &amp; Norm</a:t>
            </a:r>
            <a:endParaRPr lang="en-US" sz="1100"/>
          </a:p>
        </p:txBody>
      </p:sp>
      <p:sp>
        <p:nvSpPr>
          <p:cNvPr id="6" name="AutoShape 6"/>
          <p:cNvSpPr/>
          <p:nvPr>
            <p:custDataLst>
              <p:tags r:id="rId2"/>
            </p:custDataLst>
          </p:nvPr>
        </p:nvSpPr>
        <p:spPr>
          <a:xfrm>
            <a:off x="762000" y="3302000"/>
            <a:ext cx="5207000" cy="2667000"/>
          </a:xfrm>
          <a:prstGeom prst="roundRect">
            <a:avLst>
              <a:gd name="adj" fmla="val 3809"/>
            </a:avLst>
          </a:prstGeom>
          <a:solidFill>
            <a:srgbClr val="1E293B">
              <a:alpha val="95000"/>
            </a:srgbClr>
          </a:solidFill>
          <a:ln w="25400" cap="flat" cmpd="sng">
            <a:solidFill>
              <a:srgbClr val="00FFFF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556000"/>
            <a:ext cx="457200" cy="457200"/>
          </a:xfrm>
          <a:prstGeom prst="rect">
            <a:avLst/>
          </a:prstGeom>
        </p:spPr>
      </p:pic>
      <p:sp>
        <p:nvSpPr>
          <p:cNvPr id="8" name="AutoShape 8"/>
          <p:cNvSpPr/>
          <p:nvPr>
            <p:custDataLst>
              <p:tags r:id="rId6"/>
            </p:custDataLst>
          </p:nvPr>
        </p:nvSpPr>
        <p:spPr>
          <a:xfrm>
            <a:off x="1651000" y="3530600"/>
            <a:ext cx="393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1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掩码多头自注意力</a:t>
            </a:r>
            <a:endParaRPr lang="en-US" sz="21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en-US" sz="21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(Masked Multi-Head)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7"/>
            </p:custDataLst>
          </p:nvPr>
        </p:nvSpPr>
        <p:spPr>
          <a:xfrm>
            <a:off x="1016000" y="4318000"/>
            <a:ext cx="469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基础逻辑与编码器自注意力一致，但额外引入了</a:t>
            </a:r>
            <a:r>
              <a:rPr lang="en-US" sz="1300" b="1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Mask (掩码)</a:t>
            </a:r>
            <a:r>
              <a:rPr lang="en-US" sz="13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机制。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核心作用：将“未来位置”的注意力分数强制设为负无穷(-inf)，以此在生成序列时，确保模型只能“看见”当前及之前的信息，防止信息泄露。</a:t>
            </a:r>
            <a:endParaRPr lang="en-US" sz="1300" b="0" i="0" u="none" strike="noStrike">
              <a:solidFill>
                <a:srgbClr val="E5E7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>
            <p:custDataLst>
              <p:tags r:id="rId8"/>
            </p:custDataLst>
          </p:nvPr>
        </p:nvSpPr>
        <p:spPr>
          <a:xfrm>
            <a:off x="6223000" y="3302000"/>
            <a:ext cx="5207000" cy="2667000"/>
          </a:xfrm>
          <a:prstGeom prst="roundRect">
            <a:avLst>
              <a:gd name="adj" fmla="val 3809"/>
            </a:avLst>
          </a:prstGeom>
          <a:solidFill>
            <a:srgbClr val="1E293B">
              <a:alpha val="95000"/>
            </a:srgbClr>
          </a:solidFill>
          <a:ln w="25400" cap="flat" cmpd="sng">
            <a:solidFill>
              <a:srgbClr val="00FFFF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77000" y="3556000"/>
            <a:ext cx="457200" cy="457200"/>
          </a:xfrm>
          <a:prstGeom prst="rect">
            <a:avLst/>
          </a:prstGeom>
        </p:spPr>
      </p:pic>
      <p:sp>
        <p:nvSpPr>
          <p:cNvPr id="12" name="AutoShape 12"/>
          <p:cNvSpPr/>
          <p:nvPr>
            <p:custDataLst>
              <p:tags r:id="rId12"/>
            </p:custDataLst>
          </p:nvPr>
        </p:nvSpPr>
        <p:spPr>
          <a:xfrm>
            <a:off x="7112000" y="3530600"/>
            <a:ext cx="393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1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编码器-解码器注意力</a:t>
            </a:r>
            <a:endParaRPr lang="en-US" sz="21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en-US" sz="21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(Enc-Dec Attention)</a:t>
            </a:r>
            <a:endParaRPr lang="en-US" sz="1100"/>
          </a:p>
        </p:txBody>
      </p:sp>
      <p:sp>
        <p:nvSpPr>
          <p:cNvPr id="13" name="AutoShape 13"/>
          <p:cNvSpPr/>
          <p:nvPr>
            <p:custDataLst>
              <p:tags r:id="rId13"/>
            </p:custDataLst>
          </p:nvPr>
        </p:nvSpPr>
        <p:spPr>
          <a:xfrm>
            <a:off x="6477000" y="4318000"/>
            <a:ext cx="469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数据来源分离：Q (查询) 来自解码器的隐层输出，而 K (键) 和 V (值) 统一来自编码器的最终输出。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核心作用：构建了“输入”与“输出”的桥梁，使解码器能根据当前生成状态，动态地关注输入序列中最相关的信息片段。</a:t>
            </a:r>
            <a:endParaRPr lang="en-US" sz="1300" b="0" i="0" u="none" strike="noStrike">
              <a:solidFill>
                <a:srgbClr val="E5E7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08 位置编码：赋予模型序列顺序感知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588000" cy="4826000"/>
          </a:xfrm>
          <a:prstGeom prst="roundRect">
            <a:avLst>
              <a:gd name="adj" fmla="val 3157"/>
            </a:avLst>
          </a:prstGeom>
          <a:solidFill>
            <a:srgbClr val="17253D">
              <a:alpha val="90000"/>
            </a:srgbClr>
          </a:solidFill>
          <a:ln w="12700" cap="flat" cmpd="sng">
            <a:solidFill>
              <a:srgbClr val="00FF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7780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460500" y="17526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为什么需要位置编码？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286000"/>
            <a:ext cx="508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Transformer 模型本身不含循环或卷积结构，无法像 RNN 那样天然感知序列顺序。为了让模型利用顺序信息，必须显式地将位置信息注入到输入 embedding 中。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4290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460500" y="34036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核心实现方法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3937000"/>
            <a:ext cx="508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采用基于三角函数的固定位置编码，不参与训练。</a:t>
            </a:r>
            <a:b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生成与词向量维度一致的位置向量，与词向量直接相加。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16000" y="4953000"/>
            <a:ext cx="2413000" cy="1143000"/>
          </a:xfrm>
          <a:prstGeom prst="roundRect">
            <a:avLst>
              <a:gd name="adj" fmla="val 8888"/>
            </a:avLst>
          </a:prstGeom>
          <a:solidFill>
            <a:srgbClr val="00FFFF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1143000" y="5080000"/>
            <a:ext cx="215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✅ 绝对位置感知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为每个位置分配唯一的向量标识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683000" y="4953000"/>
            <a:ext cx="2413000" cy="1143000"/>
          </a:xfrm>
          <a:prstGeom prst="roundRect">
            <a:avLst>
              <a:gd name="adj" fmla="val 8888"/>
            </a:avLst>
          </a:prstGeom>
          <a:solidFill>
            <a:srgbClr val="00FFFF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3810000" y="5080000"/>
            <a:ext cx="215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✅ 相对位置感知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利用三角函数特性推导相对位置信息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604000" y="1524000"/>
            <a:ext cx="4826000" cy="4826000"/>
          </a:xfrm>
          <a:prstGeom prst="roundRect">
            <a:avLst>
              <a:gd name="adj" fmla="val 3157"/>
            </a:avLst>
          </a:prstGeom>
          <a:solidFill>
            <a:srgbClr val="17253D">
              <a:alpha val="90000"/>
            </a:srgbClr>
          </a:solidFill>
          <a:ln w="12700" cap="flat" cmpd="sng">
            <a:solidFill>
              <a:srgbClr val="00FF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/>
          <a:srcRect t="-8420" b="-7013"/>
          <a:stretch>
            <a:fillRect/>
          </a:stretch>
        </p:blipFill>
        <p:spPr>
          <a:xfrm>
            <a:off x="7374255" y="1340485"/>
            <a:ext cx="2979420" cy="3127375"/>
          </a:xfrm>
          <a:prstGeom prst="rect">
            <a:avLst/>
          </a:prstGeom>
          <a:noFill/>
          <a:ln w="12700" cap="flat" cmpd="sng">
            <a:solidFill>
              <a:srgbClr val="00FFFF">
                <a:alpha val="60000"/>
              </a:srgbClr>
            </a:solidFill>
            <a:prstDash val="solid"/>
            <a:round/>
          </a:ln>
        </p:spPr>
      </p:pic>
      <p:sp>
        <p:nvSpPr>
          <p:cNvPr id="17" name="AutoShape 17"/>
          <p:cNvSpPr/>
          <p:nvPr/>
        </p:nvSpPr>
        <p:spPr>
          <a:xfrm>
            <a:off x="6858000" y="4254500"/>
            <a:ext cx="4318000" cy="1841500"/>
          </a:xfrm>
          <a:prstGeom prst="roundRect">
            <a:avLst>
              <a:gd name="adj" fmla="val 5517"/>
            </a:avLst>
          </a:prstGeom>
          <a:solidFill>
            <a:srgbClr val="0F172A">
              <a:alpha val="90000"/>
            </a:srgbClr>
          </a:solidFill>
          <a:ln w="12700" cap="flat" cmpd="sng">
            <a:solidFill>
              <a:srgbClr val="D1D5D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6985000" y="4381500"/>
            <a:ext cx="4064000" cy="158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位置编码公式 (Positional Encoding)</a:t>
            </a:r>
            <a:endParaRPr lang="en-US" sz="1100"/>
          </a:p>
          <a:p>
            <a:pPr indent="0" algn="ctr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PE(pos, 2i) = sin(pos / 10000^(2i/d_model))</a:t>
            </a:r>
            <a:endParaRPr lang="en-US" sz="1300" b="0" i="0" u="none" strike="noStrike">
              <a:solidFill>
                <a:srgbClr val="E5E7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PE(pos, 2i+1) = cos(pos / 10000^(2i/d_model))</a:t>
            </a:r>
            <a:endParaRPr lang="en-US" sz="1300" b="0" i="0" u="none" strike="noStrike">
              <a:solidFill>
                <a:srgbClr val="E5E7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09 实验结果：实验设置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302000" cy="4572000"/>
          </a:xfrm>
          <a:prstGeom prst="roundRect">
            <a:avLst>
              <a:gd name="adj" fmla="val 4615"/>
            </a:avLst>
          </a:prstGeom>
          <a:solidFill>
            <a:srgbClr val="1E293B">
              <a:alpha val="90000"/>
            </a:srgbClr>
          </a:solidFill>
          <a:ln w="12700" cap="flat" cmpd="sng">
            <a:solidFill>
              <a:srgbClr val="00FF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9685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1930400"/>
            <a:ext cx="228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实验数据集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7940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Multi30k 英德翻译</a:t>
            </a:r>
            <a:endParaRPr lang="en-US" sz="1100"/>
          </a:p>
          <a:p>
            <a:pPr indent="0" algn="ctr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标准机器翻译评测基准</a:t>
            </a:r>
            <a:endParaRPr lang="en-US" sz="130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1016000" y="3937000"/>
            <a:ext cx="2794000" cy="825500"/>
          </a:xfrm>
          <a:prstGeom prst="roundRect">
            <a:avLst>
              <a:gd name="adj" fmla="val 12307"/>
            </a:avLst>
          </a:prstGeom>
          <a:solidFill>
            <a:srgbClr val="334155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143000" y="4064000"/>
            <a:ext cx="254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29k</a:t>
            </a:r>
            <a:r>
              <a:rPr lang="en-US" sz="14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训练样本 (Training)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5016500"/>
            <a:ext cx="1333500" cy="952500"/>
          </a:xfrm>
          <a:prstGeom prst="roundRect">
            <a:avLst>
              <a:gd name="adj" fmla="val 10666"/>
            </a:avLst>
          </a:prstGeom>
          <a:solidFill>
            <a:srgbClr val="334155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1079500" y="5143500"/>
            <a:ext cx="1206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38BDF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1k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验证集 (Val)</a:t>
            </a:r>
            <a:endParaRPr lang="en-US" sz="120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2476500" y="5016500"/>
            <a:ext cx="1333500" cy="952500"/>
          </a:xfrm>
          <a:prstGeom prst="roundRect">
            <a:avLst>
              <a:gd name="adj" fmla="val 10666"/>
            </a:avLst>
          </a:prstGeom>
          <a:solidFill>
            <a:srgbClr val="334155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2540000" y="5143500"/>
            <a:ext cx="1206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1k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测试集 (Test)</a:t>
            </a:r>
            <a:endParaRPr lang="en-US" sz="120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4318000" y="1651000"/>
            <a:ext cx="4318000" cy="4572000"/>
          </a:xfrm>
          <a:prstGeom prst="roundRect">
            <a:avLst>
              <a:gd name="adj" fmla="val 3529"/>
            </a:avLst>
          </a:prstGeom>
          <a:solidFill>
            <a:srgbClr val="1E293B">
              <a:alpha val="90000"/>
            </a:srgbClr>
          </a:solidFill>
          <a:ln w="12700" cap="flat" cmpd="sng">
            <a:solidFill>
              <a:srgbClr val="00FF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2000" y="1968500"/>
            <a:ext cx="355600" cy="3556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5080000" y="1930400"/>
            <a:ext cx="3302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模型规模对比实验</a:t>
            </a:r>
            <a:endParaRPr lang="en-US" sz="1100"/>
          </a:p>
        </p:txBody>
      </p:sp>
      <p:graphicFrame>
        <p:nvGraphicFramePr>
          <p:cNvPr id="17" name="Table 17"/>
          <p:cNvGraphicFramePr>
            <a:graphicFrameLocks noGrp="1"/>
          </p:cNvGraphicFramePr>
          <p:nvPr/>
        </p:nvGraphicFramePr>
        <p:xfrm>
          <a:off x="4572000" y="2921000"/>
          <a:ext cx="3937000" cy="2921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143000"/>
                <a:gridCol w="1016000"/>
                <a:gridCol w="889000"/>
                <a:gridCol w="889000"/>
              </a:tblGrid>
              <a:tr h="7620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实验ID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FFFF">
                        <a:alpha val="2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维度</a:t>
                      </a:r>
                      <a:b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</a:b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(d_model)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FFFF">
                        <a:alpha val="2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层数</a:t>
                      </a:r>
                      <a:b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</a:b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(Layers)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FFFF">
                        <a:alpha val="2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头数</a:t>
                      </a:r>
                      <a:b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</a:b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(Heads)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FFFF">
                        <a:alpha val="20000"/>
                      </a:srgbClr>
                    </a:solidFill>
                  </a:tcPr>
                </a:tc>
              </a:tr>
              <a:tr h="6985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E2E8F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small_128_2l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>
                        <a:alpha val="8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E2E8F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128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>
                        <a:alpha val="8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E2E8F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2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>
                        <a:alpha val="8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E2E8F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4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>
                        <a:alpha val="80000"/>
                      </a:srgbClr>
                    </a:solidFill>
                  </a:tcPr>
                </a:tc>
              </a:tr>
              <a:tr h="7620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00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baseline_256_3l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>
                        <a:alpha val="1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00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256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>
                        <a:alpha val="1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00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3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>
                        <a:alpha val="1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00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8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>
                        <a:alpha val="15000"/>
                      </a:srgbClr>
                    </a:solidFill>
                  </a:tcPr>
                </a:tc>
              </a:tr>
              <a:tr h="6985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E2E8F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deeper_256_4l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334155">
                        <a:alpha val="8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E2E8F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256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334155">
                        <a:alpha val="8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E2E8F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4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334155">
                        <a:alpha val="8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E2E8F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8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334155">
                        <a:alpha val="8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8" name="AutoShape 18"/>
          <p:cNvSpPr/>
          <p:nvPr/>
        </p:nvSpPr>
        <p:spPr>
          <a:xfrm>
            <a:off x="8890000" y="1651000"/>
            <a:ext cx="2540000" cy="4572000"/>
          </a:xfrm>
          <a:prstGeom prst="roundRect">
            <a:avLst>
              <a:gd name="adj" fmla="val 6000"/>
            </a:avLst>
          </a:prstGeom>
          <a:solidFill>
            <a:srgbClr val="1E293B">
              <a:alpha val="90000"/>
            </a:srgbClr>
          </a:solidFill>
          <a:ln w="12700" cap="flat" cmpd="sng">
            <a:solidFill>
              <a:srgbClr val="00FF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6"/>
          <a:srcRect t="12496" b="12496"/>
          <a:stretch>
            <a:fillRect/>
          </a:stretch>
        </p:blipFill>
        <p:spPr>
          <a:xfrm>
            <a:off x="9144000" y="2032000"/>
            <a:ext cx="2032000" cy="2032000"/>
          </a:xfrm>
          <a:prstGeom prst="roundRect">
            <a:avLst>
              <a:gd name="adj" fmla="val 7500"/>
            </a:avLst>
          </a:prstGeom>
          <a:noFill/>
          <a:ln w="25400" cap="flat" cmpd="sng">
            <a:solidFill>
              <a:srgbClr val="00FFFF">
                <a:alpha val="80000"/>
              </a:srgbClr>
            </a:solidFill>
            <a:prstDash val="solid"/>
            <a:round/>
          </a:ln>
        </p:spPr>
      </p:pic>
      <p:sp>
        <p:nvSpPr>
          <p:cNvPr id="20" name="AutoShape 20"/>
          <p:cNvSpPr/>
          <p:nvPr/>
        </p:nvSpPr>
        <p:spPr>
          <a:xfrm>
            <a:off x="9017000" y="4318000"/>
            <a:ext cx="2286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Ashish Vaswani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Transformer 架构核心作者</a:t>
            </a:r>
            <a:endParaRPr lang="en-US" sz="120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00000"/>
              </a:lnSpc>
            </a:pPr>
            <a:r>
              <a:rPr lang="en-US" sz="1100" b="0" i="1" u="none" strike="noStrike">
                <a:solidFill>
                  <a:srgbClr val="00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"Attention Is All You Need"</a:t>
            </a:r>
            <a:endParaRPr lang="en-US" sz="1100" b="0" i="1" u="none" strike="noStrike">
              <a:solidFill>
                <a:srgbClr val="00FFFF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09 实验结果：核心性能对比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2413000"/>
          </a:xfrm>
          <a:prstGeom prst="roundRect">
            <a:avLst>
              <a:gd name="adj" fmla="val 6315"/>
            </a:avLst>
          </a:prstGeom>
          <a:solidFill>
            <a:srgbClr val="171F2E">
              <a:alpha val="92000"/>
            </a:srgbClr>
          </a:solidFill>
          <a:ln w="12700" cap="flat" cmpd="sng">
            <a:solidFill>
              <a:srgbClr val="00FFFF">
                <a:alpha val="4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952500" y="1714500"/>
          <a:ext cx="10414000" cy="1651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286000"/>
                <a:gridCol w="1905000"/>
                <a:gridCol w="2286000"/>
                <a:gridCol w="2286000"/>
                <a:gridCol w="1651000"/>
              </a:tblGrid>
              <a:tr h="5715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实验 ID (配置)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FFFF">
                        <a:alpha val="2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参数量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FFFF">
                        <a:alpha val="2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最佳验证损失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FFFF">
                        <a:alpha val="2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最终困惑度 (PPL)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FFFF">
                        <a:alpha val="2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单轮耗时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FFFF">
                        <a:alpha val="20000"/>
                      </a:srgbClr>
                    </a:solidFill>
                  </a:tcPr>
                </a:tc>
              </a:tr>
              <a:tr h="5080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E5E7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small_128_2l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E5E7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3.4 M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E5E7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3.4261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E5E7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30.76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E5E7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~18.9 s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715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00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baseline_256_3l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FFFF">
                        <a:alpha val="12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00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9.5 M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FFFF">
                        <a:alpha val="12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00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3.1889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FFFF">
                        <a:alpha val="12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00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24.26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FFFF">
                        <a:alpha val="12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~24.0 s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FFFF">
                        <a:alpha val="12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6" name="AutoShape 6"/>
          <p:cNvSpPr/>
          <p:nvPr/>
        </p:nvSpPr>
        <p:spPr>
          <a:xfrm>
            <a:off x="762000" y="4191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171F2E">
              <a:alpha val="92000"/>
            </a:srgbClr>
          </a:solidFill>
          <a:ln w="12700" cap="flat" cmpd="sng">
            <a:solidFill>
              <a:srgbClr val="00FFFF">
                <a:alpha val="4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4445000"/>
            <a:ext cx="609600" cy="609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778000" y="4381500"/>
            <a:ext cx="3937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基线模型 (Baseline) 综合最优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Baseline_256_3l 在所有实验中验证损失 (Loss) 与困惑度 (PPL) 表现最佳，证明该配置在有限的参数量、训练成本与最终模型效果之间，达成了最佳的平衡状态。</a:t>
            </a:r>
            <a:endParaRPr lang="en-US" sz="1300" b="0" i="0" u="none" strike="noStrike">
              <a:solidFill>
                <a:srgbClr val="E5E7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223000" y="4191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171F2E">
              <a:alpha val="92000"/>
            </a:srgbClr>
          </a:solidFill>
          <a:ln w="12700" cap="flat" cmpd="sng">
            <a:solidFill>
              <a:srgbClr val="00FFFF">
                <a:alpha val="4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4445000"/>
            <a:ext cx="609600" cy="609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239000" y="4381500"/>
            <a:ext cx="3937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模型规模 ≠ 性能提升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增加网络深度 (Deeper_256_4l) 并未带来预期的效果提升，反而增加了过拟合风险和优化难度。盲目扩大模型参数量在特定场景下会造成资源浪费，且无法保证效果。</a:t>
            </a:r>
            <a:endParaRPr lang="en-US" sz="1300" b="0" i="0" u="none" strike="noStrike">
              <a:solidFill>
                <a:srgbClr val="E5E7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09 实验结果：Loss曲线与翻译样例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2413000"/>
          </a:xfrm>
          <a:prstGeom prst="roundRect">
            <a:avLst>
              <a:gd name="adj" fmla="val 4210"/>
            </a:avLst>
          </a:prstGeom>
          <a:solidFill>
            <a:srgbClr val="1E293B">
              <a:alpha val="95000"/>
            </a:srgbClr>
          </a:solidFill>
          <a:ln w="12700" cap="flat" cmpd="sng">
            <a:solidFill>
              <a:srgbClr val="00FF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905000"/>
            <a:ext cx="609600" cy="609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905000" y="1905000"/>
            <a:ext cx="368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训练 / 验证 Loss 曲线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7940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训练损失与验证损失均呈现稳步下降趋势，表明模型有效学习了语言任务的内在规律。</a:t>
            </a:r>
            <a:b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最终收敛状态良好，无明显过拟合现象。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223000" y="1651000"/>
            <a:ext cx="5207000" cy="2413000"/>
          </a:xfrm>
          <a:prstGeom prst="roundRect">
            <a:avLst>
              <a:gd name="adj" fmla="val 4210"/>
            </a:avLst>
          </a:prstGeom>
          <a:solidFill>
            <a:srgbClr val="1E293B">
              <a:alpha val="95000"/>
            </a:srgbClr>
          </a:solidFill>
          <a:ln w="12700" cap="flat" cmpd="sng">
            <a:solidFill>
              <a:srgbClr val="00FF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6477000" y="1841500"/>
            <a:ext cx="4699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输入 (EN):</a:t>
            </a:r>
            <a:r>
              <a:rPr lang="en-US" sz="13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"a man in an orange hat staring at something ."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参考 (DE):</a:t>
            </a:r>
            <a:r>
              <a:rPr lang="en-US" sz="13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"ein mann mit einem orangefarbenen hut , der etwas anstarrt ."</a:t>
            </a:r>
            <a:endParaRPr lang="en-US" sz="1300" b="0" i="0" u="none" strike="noStrike">
              <a:solidFill>
                <a:srgbClr val="E5E7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F8717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预测 (Pred):</a:t>
            </a:r>
            <a:r>
              <a:rPr lang="en-US" sz="13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"ein mann in einem blauen hemd hält sich auf dem boden ."</a:t>
            </a:r>
            <a:endParaRPr lang="en-US" sz="1300" b="0" i="0" u="none" strike="noStrike">
              <a:solidFill>
                <a:srgbClr val="E5E7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762000" y="4318000"/>
            <a:ext cx="5207000" cy="2032000"/>
          </a:xfrm>
          <a:prstGeom prst="roundRect">
            <a:avLst>
              <a:gd name="adj" fmla="val 5000"/>
            </a:avLst>
          </a:prstGeom>
          <a:solidFill>
            <a:srgbClr val="1E293B">
              <a:alpha val="95000"/>
            </a:srgbClr>
          </a:solidFill>
          <a:ln w="12700" cap="flat" cmpd="sng">
            <a:solidFill>
              <a:srgbClr val="00FF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4572000"/>
            <a:ext cx="355600" cy="355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524000" y="4572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结果分析与局限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016000" y="52070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模型已能生成语法结构基本正确的德语长句，证明了Transformer架构在序列建模上的有效性。但在词汇准确性（如颜色词）上仍有明显偏差，这主要受限于当时的计算资源与公开数据集的规模。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223000" y="4318000"/>
            <a:ext cx="5207000" cy="2032000"/>
          </a:xfrm>
          <a:prstGeom prst="roundRect">
            <a:avLst>
              <a:gd name="adj" fmla="val 5000"/>
            </a:avLst>
          </a:prstGeom>
          <a:solidFill>
            <a:srgbClr val="1E293B">
              <a:alpha val="95000"/>
            </a:srgbClr>
          </a:solidFill>
          <a:ln w="12700" cap="flat" cmpd="sng">
            <a:solidFill>
              <a:srgbClr val="00FF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7000" y="4572000"/>
            <a:ext cx="355600" cy="3556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6985000" y="4572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论文里程碑式贡献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477000" y="52070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</a:t>
            </a:r>
            <a:r>
              <a:rPr lang="en-US" sz="13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提出纯 Attention 架构，彻底摆脱对 RNN/CNN 的依赖。</a:t>
            </a:r>
            <a:br>
              <a:rPr lang="en-US" sz="13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</a:t>
            </a:r>
            <a:r>
              <a:rPr lang="en-US" sz="13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实现全序列并行计算，大幅缩短训练周期，降低门槛。</a:t>
            </a:r>
            <a:br>
              <a:rPr lang="en-US" sz="13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03.</a:t>
            </a:r>
            <a:r>
              <a:rPr lang="en-US" sz="13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刷新多项 NLP 任务 SOTA，奠定 BERT/GPT 等模型的基础。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9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10 总结展望：项目总结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2286000"/>
          </a:xfrm>
          <a:prstGeom prst="roundRect">
            <a:avLst>
              <a:gd name="adj" fmla="val 4444"/>
            </a:avLst>
          </a:prstGeom>
          <a:solidFill>
            <a:srgbClr val="1E293B">
              <a:alpha val="90000"/>
            </a:srgbClr>
          </a:solidFill>
          <a:ln w="12700" cap="flat" cmpd="sng">
            <a:solidFill>
              <a:srgbClr val="00FF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6800" y="1968500"/>
            <a:ext cx="457200" cy="4572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778000" y="1905000"/>
            <a:ext cx="3937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成功复现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778000" y="2540000"/>
            <a:ext cx="3937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本项目成功基于PyTorch实现了Transformer模型，并将其完整应用于英德翻译任务，达成了既定的复现目标。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223000" y="1651000"/>
            <a:ext cx="5207000" cy="2286000"/>
          </a:xfrm>
          <a:prstGeom prst="roundRect">
            <a:avLst>
              <a:gd name="adj" fmla="val 4444"/>
            </a:avLst>
          </a:prstGeom>
          <a:solidFill>
            <a:srgbClr val="1E293B">
              <a:alpha val="90000"/>
            </a:srgbClr>
          </a:solidFill>
          <a:ln w="12700" cap="flat" cmpd="sng">
            <a:solidFill>
              <a:srgbClr val="00FF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27800" y="1968500"/>
            <a:ext cx="457200" cy="4572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239000" y="1905000"/>
            <a:ext cx="3937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核心模块理解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239000" y="2540000"/>
            <a:ext cx="3937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深入掌握了缩放点积注意力、多头注意力机制、编解码器结构以及位置编码等Transformer核心组件的运行逻辑与代码实现细节。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4191000"/>
            <a:ext cx="5207000" cy="2286000"/>
          </a:xfrm>
          <a:prstGeom prst="roundRect">
            <a:avLst>
              <a:gd name="adj" fmla="val 4444"/>
            </a:avLst>
          </a:prstGeom>
          <a:solidFill>
            <a:srgbClr val="1E293B">
              <a:alpha val="90000"/>
            </a:srgbClr>
          </a:solidFill>
          <a:ln w="12700" cap="flat" cmpd="sng">
            <a:solidFill>
              <a:srgbClr val="00FF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6800" y="4508500"/>
            <a:ext cx="457200" cy="4572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778000" y="4445000"/>
            <a:ext cx="3937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全流程实践经验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778000" y="5080000"/>
            <a:ext cx="3937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积累了端到端的序列到序列模型开发经验，涵盖了数据清洗与预处理、模型训练与监控、超参数调优及最终结果的分析与评估。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223000" y="4191000"/>
            <a:ext cx="5207000" cy="2286000"/>
          </a:xfrm>
          <a:prstGeom prst="roundRect">
            <a:avLst>
              <a:gd name="adj" fmla="val 4444"/>
            </a:avLst>
          </a:prstGeom>
          <a:solidFill>
            <a:srgbClr val="1E293B">
              <a:alpha val="90000"/>
            </a:srgbClr>
          </a:solidFill>
          <a:ln w="12700" cap="flat" cmpd="sng">
            <a:solidFill>
              <a:srgbClr val="00FF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27800" y="4508500"/>
            <a:ext cx="457200" cy="4572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239000" y="4445000"/>
            <a:ext cx="3937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规模与性能的权衡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239000" y="5080000"/>
            <a:ext cx="3937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实验验证了“模型越大效果越好”并非绝对真理。在特定的计算资源和数据量限制下，存在一个性价比最优的模型规模平衡点。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2032000"/>
            <a:ext cx="12192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9600" b="1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 &amp; A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0" y="3937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</a:t>
            </a:r>
            <a:r>
              <a:rPr lang="zh-CN" alt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指导</a:t>
            </a:r>
            <a:endParaRPr lang="zh-CN" altLang="en-US" sz="48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0" y="5334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24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请老师</a:t>
            </a:r>
            <a:r>
              <a:rPr lang="en-US" sz="24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批评指正与提问</a:t>
            </a:r>
            <a:endParaRPr lang="en-US" sz="11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10,&quot;left&quot;:60,&quot;top&quot;:260,&quot;width&quot;:840}"/>
</p:tagLst>
</file>

<file path=ppt/tags/tag2.xml><?xml version="1.0" encoding="utf-8"?>
<p:tagLst xmlns:p="http://schemas.openxmlformats.org/presentationml/2006/main">
  <p:tag name="KSO_WM_DIAGRAM_VIRTUALLY_FRAME" val="{&quot;height&quot;:210,&quot;left&quot;:60,&quot;top&quot;:260,&quot;width&quot;:840}"/>
</p:tagLst>
</file>

<file path=ppt/tags/tag3.xml><?xml version="1.0" encoding="utf-8"?>
<p:tagLst xmlns:p="http://schemas.openxmlformats.org/presentationml/2006/main">
  <p:tag name="KSO_WM_DIAGRAM_VIRTUALLY_FRAME" val="{&quot;height&quot;:210,&quot;left&quot;:60,&quot;top&quot;:260,&quot;width&quot;:840}"/>
</p:tagLst>
</file>

<file path=ppt/tags/tag4.xml><?xml version="1.0" encoding="utf-8"?>
<p:tagLst xmlns:p="http://schemas.openxmlformats.org/presentationml/2006/main">
  <p:tag name="KSO_WM_DIAGRAM_VIRTUALLY_FRAME" val="{&quot;height&quot;:210,&quot;left&quot;:60,&quot;top&quot;:260,&quot;width&quot;:840}"/>
</p:tagLst>
</file>

<file path=ppt/tags/tag5.xml><?xml version="1.0" encoding="utf-8"?>
<p:tagLst xmlns:p="http://schemas.openxmlformats.org/presentationml/2006/main">
  <p:tag name="KSO_WM_DIAGRAM_VIRTUALLY_FRAME" val="{&quot;height&quot;:210,&quot;left&quot;:60,&quot;top&quot;:260,&quot;width&quot;:840}"/>
</p:tagLst>
</file>

<file path=ppt/tags/tag6.xml><?xml version="1.0" encoding="utf-8"?>
<p:tagLst xmlns:p="http://schemas.openxmlformats.org/presentationml/2006/main">
  <p:tag name="KSO_WM_DIAGRAM_VIRTUALLY_FRAME" val="{&quot;height&quot;:210,&quot;left&quot;:60,&quot;top&quot;:260,&quot;width&quot;:840}"/>
</p:tagLst>
</file>

<file path=ppt/tags/tag7.xml><?xml version="1.0" encoding="utf-8"?>
<p:tagLst xmlns:p="http://schemas.openxmlformats.org/presentationml/2006/main">
  <p:tag name="KSO_WM_DIAGRAM_VIRTUALLY_FRAME" val="{&quot;height&quot;:210,&quot;left&quot;:60,&quot;top&quot;:260,&quot;width&quot;:840}"/>
</p:tagLst>
</file>

<file path=ppt/tags/tag8.xml><?xml version="1.0" encoding="utf-8"?>
<p:tagLst xmlns:p="http://schemas.openxmlformats.org/presentationml/2006/main">
  <p:tag name="KSO_WM_DIAGRAM_VIRTUALLY_FRAME" val="{&quot;height&quot;:210,&quot;left&quot;:60,&quot;top&quot;:260,&quot;width&quot;:84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5580</Words>
  <Application>WPS 演示</Application>
  <PresentationFormat/>
  <Paragraphs>383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35" baseType="lpstr">
      <vt:lpstr>Arial</vt:lpstr>
      <vt:lpstr>宋体</vt:lpstr>
      <vt:lpstr>Wingdings</vt:lpstr>
      <vt:lpstr>Arial</vt:lpstr>
      <vt:lpstr>Noto Sans SC</vt:lpstr>
      <vt:lpstr>Roboto Mono</vt:lpstr>
      <vt:lpstr>Segoe Print</vt:lpstr>
      <vt:lpstr>微软雅黑</vt:lpstr>
      <vt:lpstr>Arial Unicode MS</vt:lpstr>
      <vt:lpstr>仿宋</vt:lpstr>
      <vt:lpstr>云书法手书惠中行书简</vt:lpstr>
      <vt:lpstr>方正仿宋简体</vt:lpstr>
      <vt:lpstr>WPS灵秀黑</vt:lpstr>
      <vt:lpstr>Malgun Gothic Semilight</vt:lpstr>
      <vt:lpstr>华康新篆体W5(P)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lngl****@***b.vip</cp:lastModifiedBy>
  <cp:revision>3</cp:revision>
  <dcterms:created xsi:type="dcterms:W3CDTF">2026-05-18T04:40:00Z</dcterms:created>
  <dcterms:modified xsi:type="dcterms:W3CDTF">2026-05-18T09:47:45Z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817BEA2B3D0F4B069C9FF677C67B4DBF_13</vt:lpwstr>
  </property>
  <property fmtid="{D5CDD505-2E9C-101B-9397-08002B2CF9AE}" pid="3" name="KSOProductBuildVer">
    <vt:lpwstr>2052-12.1.0.21171</vt:lpwstr>
  </property>
</Properties>
</file>